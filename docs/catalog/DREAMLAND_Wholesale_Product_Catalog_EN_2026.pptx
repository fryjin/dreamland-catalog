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webp" ContentType="image/webp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7F3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webp"/><Relationship Id="rId2" Type="http://schemas.openxmlformats.org/officeDocument/2006/relationships/image" Target="../media/image-1-2.webp"/><Relationship Id="rId3" Type="http://schemas.openxmlformats.org/officeDocument/2006/relationships/image" Target="../media/image-1-3.webp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webp"/><Relationship Id="rId2" Type="http://schemas.openxmlformats.org/officeDocument/2006/relationships/image" Target="../media/image-2-2.webp"/><Relationship Id="rId3" Type="http://schemas.openxmlformats.org/officeDocument/2006/relationships/image" Target="../media/image-2-3.webp"/><Relationship Id="rId4" Type="http://schemas.openxmlformats.org/officeDocument/2006/relationships/image" Target="../media/image-2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webp"/><Relationship Id="rId2" Type="http://schemas.openxmlformats.org/officeDocument/2006/relationships/image" Target="../media/image-3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webp"/><Relationship Id="rId2" Type="http://schemas.openxmlformats.org/officeDocument/2006/relationships/image" Target="../media/image-4-2.webp"/><Relationship Id="rId3" Type="http://schemas.openxmlformats.org/officeDocument/2006/relationships/image" Target="../media/image-4-3.webp"/><Relationship Id="rId4" Type="http://schemas.openxmlformats.org/officeDocument/2006/relationships/image" Target="../media/image-4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webp"/><Relationship Id="rId2" Type="http://schemas.openxmlformats.org/officeDocument/2006/relationships/image" Target="../media/image-5-2.webp"/><Relationship Id="rId3" Type="http://schemas.openxmlformats.org/officeDocument/2006/relationships/image" Target="../media/image-5-3.webp"/><Relationship Id="rId4" Type="http://schemas.openxmlformats.org/officeDocument/2006/relationships/image" Target="../media/image-5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webp"/><Relationship Id="rId2" Type="http://schemas.openxmlformats.org/officeDocument/2006/relationships/image" Target="../media/image-6-2.webp"/><Relationship Id="rId3" Type="http://schemas.openxmlformats.org/officeDocument/2006/relationships/image" Target="../media/image-6-3.webp"/><Relationship Id="rId4" Type="http://schemas.openxmlformats.org/officeDocument/2006/relationships/image" Target="../media/image-6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webp"/><Relationship Id="rId2" Type="http://schemas.openxmlformats.org/officeDocument/2006/relationships/image" Target="../media/image-7-2.webp"/><Relationship Id="rId3" Type="http://schemas.openxmlformats.org/officeDocument/2006/relationships/image" Target="../media/image-7-3.webp"/><Relationship Id="rId4" Type="http://schemas.openxmlformats.org/officeDocument/2006/relationships/image" Target="../media/image-7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webp"/><Relationship Id="rId2" Type="http://schemas.openxmlformats.org/officeDocument/2006/relationships/image" Target="../media/image-8-2.webp"/><Relationship Id="rId3" Type="http://schemas.openxmlformats.org/officeDocument/2006/relationships/image" Target="../media/image-8-3.webp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webp"/><Relationship Id="rId2" Type="http://schemas.openxmlformats.org/officeDocument/2006/relationships/image" Target="../media/image-9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webp"/><Relationship Id="rId2" Type="http://schemas.openxmlformats.org/officeDocument/2006/relationships/image" Target="../media/image-10-2.webp"/><Relationship Id="rId3" Type="http://schemas.openxmlformats.org/officeDocument/2006/relationships/image" Target="../media/image-10-3.webp"/><Relationship Id="rId4" Type="http://schemas.openxmlformats.org/officeDocument/2006/relationships/image" Target="../media/image-10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webp"/><Relationship Id="rId2" Type="http://schemas.openxmlformats.org/officeDocument/2006/relationships/image" Target="../media/image-11-2.webp"/><Relationship Id="rId3" Type="http://schemas.openxmlformats.org/officeDocument/2006/relationships/image" Target="../media/image-11-3.webp"/><Relationship Id="rId4" Type="http://schemas.openxmlformats.org/officeDocument/2006/relationships/image" Target="../media/image-11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webp"/><Relationship Id="rId2" Type="http://schemas.openxmlformats.org/officeDocument/2006/relationships/image" Target="../media/image-12-2.webp"/><Relationship Id="rId3" Type="http://schemas.openxmlformats.org/officeDocument/2006/relationships/image" Target="../media/image-12-3.webp"/><Relationship Id="rId4" Type="http://schemas.openxmlformats.org/officeDocument/2006/relationships/image" Target="../media/image-12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webp"/><Relationship Id="rId2" Type="http://schemas.openxmlformats.org/officeDocument/2006/relationships/image" Target="../media/image-13-2.webp"/><Relationship Id="rId3" Type="http://schemas.openxmlformats.org/officeDocument/2006/relationships/image" Target="../media/image-13-3.webp"/><Relationship Id="rId4" Type="http://schemas.openxmlformats.org/officeDocument/2006/relationships/image" Target="../media/image-13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webp"/><Relationship Id="rId2" Type="http://schemas.openxmlformats.org/officeDocument/2006/relationships/image" Target="../media/image-14-2.webp"/><Relationship Id="rId3" Type="http://schemas.openxmlformats.org/officeDocument/2006/relationships/image" Target="../media/image-14-3.webp"/><Relationship Id="rId4" Type="http://schemas.openxmlformats.org/officeDocument/2006/relationships/image" Target="../media/image-14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webp"/><Relationship Id="rId2" Type="http://schemas.openxmlformats.org/officeDocument/2006/relationships/image" Target="../media/image-15-2.webp"/><Relationship Id="rId3" Type="http://schemas.openxmlformats.org/officeDocument/2006/relationships/image" Target="../media/image-15-3.webp"/><Relationship Id="rId4" Type="http://schemas.openxmlformats.org/officeDocument/2006/relationships/image" Target="../media/image-15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webp"/><Relationship Id="rId2" Type="http://schemas.openxmlformats.org/officeDocument/2006/relationships/image" Target="../media/image-16-2.webp"/><Relationship Id="rId3" Type="http://schemas.openxmlformats.org/officeDocument/2006/relationships/image" Target="../media/image-16-3.webp"/><Relationship Id="rId4" Type="http://schemas.openxmlformats.org/officeDocument/2006/relationships/image" Target="../media/image-16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webp"/><Relationship Id="rId2" Type="http://schemas.openxmlformats.org/officeDocument/2006/relationships/image" Target="../media/image-17-2.webp"/><Relationship Id="rId3" Type="http://schemas.openxmlformats.org/officeDocument/2006/relationships/image" Target="../media/image-17-3.webp"/><Relationship Id="rId4" Type="http://schemas.openxmlformats.org/officeDocument/2006/relationships/image" Target="../media/image-17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webp"/><Relationship Id="rId2" Type="http://schemas.openxmlformats.org/officeDocument/2006/relationships/image" Target="../media/image-18-2.webp"/><Relationship Id="rId3" Type="http://schemas.openxmlformats.org/officeDocument/2006/relationships/image" Target="../media/image-18-3.webp"/><Relationship Id="rId4" Type="http://schemas.openxmlformats.org/officeDocument/2006/relationships/image" Target="../media/image-18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webp"/><Relationship Id="rId2" Type="http://schemas.openxmlformats.org/officeDocument/2006/relationships/image" Target="../media/image-19-2.webp"/><Relationship Id="rId3" Type="http://schemas.openxmlformats.org/officeDocument/2006/relationships/image" Target="../media/image-19-3.webp"/><Relationship Id="rId4" Type="http://schemas.openxmlformats.org/officeDocument/2006/relationships/image" Target="../media/image-19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webp"/><Relationship Id="rId2" Type="http://schemas.openxmlformats.org/officeDocument/2006/relationships/image" Target="../media/image-20-2.webp"/><Relationship Id="rId3" Type="http://schemas.openxmlformats.org/officeDocument/2006/relationships/image" Target="../media/image-20-3.webp"/><Relationship Id="rId4" Type="http://schemas.openxmlformats.org/officeDocument/2006/relationships/image" Target="../media/image-20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webp"/><Relationship Id="rId2" Type="http://schemas.openxmlformats.org/officeDocument/2006/relationships/image" Target="../media/image-21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webp"/><Relationship Id="rId2" Type="http://schemas.openxmlformats.org/officeDocument/2006/relationships/image" Target="../media/image-22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webp"/><Relationship Id="rId2" Type="http://schemas.openxmlformats.org/officeDocument/2006/relationships/image" Target="../media/image-23-2.webp"/><Relationship Id="rId3" Type="http://schemas.openxmlformats.org/officeDocument/2006/relationships/image" Target="../media/image-23-3.webp"/><Relationship Id="rId4" Type="http://schemas.openxmlformats.org/officeDocument/2006/relationships/image" Target="../media/image-23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webp"/><Relationship Id="rId2" Type="http://schemas.openxmlformats.org/officeDocument/2006/relationships/image" Target="../media/image-24-2.webp"/><Relationship Id="rId3" Type="http://schemas.openxmlformats.org/officeDocument/2006/relationships/image" Target="../media/image-24-3.webp"/><Relationship Id="rId4" Type="http://schemas.openxmlformats.org/officeDocument/2006/relationships/image" Target="../media/image-24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webp"/><Relationship Id="rId2" Type="http://schemas.openxmlformats.org/officeDocument/2006/relationships/image" Target="../media/image-25-2.webp"/><Relationship Id="rId3" Type="http://schemas.openxmlformats.org/officeDocument/2006/relationships/image" Target="../media/image-25-3.webp"/><Relationship Id="rId4" Type="http://schemas.openxmlformats.org/officeDocument/2006/relationships/image" Target="../media/image-25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webp"/><Relationship Id="rId2" Type="http://schemas.openxmlformats.org/officeDocument/2006/relationships/image" Target="../media/image-26-2.webp"/><Relationship Id="rId3" Type="http://schemas.openxmlformats.org/officeDocument/2006/relationships/image" Target="../media/image-26-3.webp"/><Relationship Id="rId4" Type="http://schemas.openxmlformats.org/officeDocument/2006/relationships/image" Target="../media/image-26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webp"/><Relationship Id="rId2" Type="http://schemas.openxmlformats.org/officeDocument/2006/relationships/image" Target="../media/image-27-2.webp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webp"/><Relationship Id="rId2" Type="http://schemas.openxmlformats.org/officeDocument/2006/relationships/image" Target="../media/image-28-2.webp"/><Relationship Id="rId3" Type="http://schemas.openxmlformats.org/officeDocument/2006/relationships/image" Target="../media/image-28-3.webp"/><Relationship Id="rId4" Type="http://schemas.openxmlformats.org/officeDocument/2006/relationships/image" Target="../media/image-28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webp"/><Relationship Id="rId2" Type="http://schemas.openxmlformats.org/officeDocument/2006/relationships/image" Target="../media/image-29-2.webp"/><Relationship Id="rId3" Type="http://schemas.openxmlformats.org/officeDocument/2006/relationships/image" Target="../media/image-29-3.webp"/><Relationship Id="rId4" Type="http://schemas.openxmlformats.org/officeDocument/2006/relationships/image" Target="../media/image-29-4.webp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webp"/><Relationship Id="rId2" Type="http://schemas.openxmlformats.org/officeDocument/2006/relationships/image" Target="../media/image-31-2.webp"/><Relationship Id="rId3" Type="http://schemas.openxmlformats.org/officeDocument/2006/relationships/image" Target="../media/image-31-3.webp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49377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80" kern="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603504" y="1298448"/>
            <a:ext cx="4800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WHOLESALE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CATALOG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21792" y="2962656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9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ENGLISH EDITION  ·  2026</a:t>
            </a:r>
            <a:endParaRPr lang="en-US" sz="890" dirty="0"/>
          </a:p>
        </p:txBody>
      </p:sp>
      <p:sp>
        <p:nvSpPr>
          <p:cNvPr id="5" name="Text 3"/>
          <p:cNvSpPr/>
          <p:nvPr/>
        </p:nvSpPr>
        <p:spPr>
          <a:xfrm>
            <a:off x="621792" y="3410712"/>
            <a:ext cx="4251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Hand-carved candles for wholesale,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gifting and custom projects.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621792" y="5230368"/>
            <a:ext cx="24688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spc="70" kern="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89 ACTIVE PRODUCTS</a:t>
            </a:r>
            <a:endParaRPr lang="en-US" sz="880" dirty="0"/>
          </a:p>
        </p:txBody>
      </p:sp>
      <p:sp>
        <p:nvSpPr>
          <p:cNvPr id="7" name="Text 5"/>
          <p:cNvSpPr/>
          <p:nvPr/>
        </p:nvSpPr>
        <p:spPr>
          <a:xfrm>
            <a:off x="621792" y="5541264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19  /  Masterpiece 46  /  Holiday 16  /  Classic 8</a:t>
            </a:r>
            <a:endParaRPr lang="en-US" sz="880" dirty="0"/>
          </a:p>
        </p:txBody>
      </p:sp>
      <p:sp>
        <p:nvSpPr>
          <p:cNvPr id="8" name="Shape 6"/>
          <p:cNvSpPr/>
          <p:nvPr/>
        </p:nvSpPr>
        <p:spPr>
          <a:xfrm>
            <a:off x="621792" y="6053328"/>
            <a:ext cx="4526280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21792" y="6199632"/>
            <a:ext cx="45262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BY PRODUCT ID  ·  CONFIGURE IN QUOTATION</a:t>
            </a:r>
            <a:endParaRPr lang="en-US" sz="760" dirty="0"/>
          </a:p>
        </p:txBody>
      </p:sp>
      <p:sp>
        <p:nvSpPr>
          <p:cNvPr id="10" name="Shape 8"/>
          <p:cNvSpPr/>
          <p:nvPr/>
        </p:nvSpPr>
        <p:spPr>
          <a:xfrm>
            <a:off x="5623560" y="658368"/>
            <a:ext cx="4187952" cy="5321808"/>
          </a:xfrm>
          <a:prstGeom prst="rect">
            <a:avLst/>
          </a:prstGeom>
          <a:solidFill>
            <a:srgbClr val="E8D9C8"/>
          </a:solidFill>
          <a:ln w="7620">
            <a:solidFill>
              <a:srgbClr val="E8D9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879592" y="438912"/>
            <a:ext cx="4187952" cy="5321808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2" name="Image 0" descr="Noir Rainb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2784" y="548640"/>
            <a:ext cx="3401568" cy="5102352"/>
          </a:xfrm>
          <a:prstGeom prst="rect">
            <a:avLst/>
          </a:prstGeom>
        </p:spPr>
      </p:pic>
      <p:sp>
        <p:nvSpPr>
          <p:cNvPr id="13" name="Shape 10"/>
          <p:cNvSpPr/>
          <p:nvPr/>
        </p:nvSpPr>
        <p:spPr>
          <a:xfrm>
            <a:off x="10241280" y="640080"/>
            <a:ext cx="1389888" cy="2395728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4" name="Image 1" descr="Heartbe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96144" y="877824"/>
            <a:ext cx="1280160" cy="192024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10241280" y="3310128"/>
            <a:ext cx="1389888" cy="2395728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6" name="Image 2" descr="C0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96144" y="3548341"/>
            <a:ext cx="1280160" cy="191930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436608" y="6144768"/>
            <a:ext cx="21945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spc="80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ACTIVE CATALOG</a:t>
            </a:r>
            <a:endParaRPr lang="en-US" sz="750" dirty="0"/>
          </a:p>
        </p:txBody>
      </p:sp>
      <p:sp>
        <p:nvSpPr>
          <p:cNvPr id="18" name="Shape 13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20" name="Text 15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01</a:t>
            </a:r>
            <a:endParaRPr lang="en-US" sz="77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8D9C8"/>
          </a:solidFill>
          <a:ln w="7620">
            <a:solidFill>
              <a:srgbClr val="E8D9C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CATALOG OVERVIEW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Four collections. One clear selection flow.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Only products marked active at the source commit are included.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02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417320"/>
            <a:ext cx="5413248" cy="1901952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1417320"/>
            <a:ext cx="1554480" cy="1901952"/>
          </a:xfrm>
          <a:prstGeom prst="rect">
            <a:avLst/>
          </a:prstGeom>
          <a:solidFill>
            <a:srgbClr val="DCE2D7"/>
          </a:solidFill>
          <a:ln w="7620">
            <a:solidFill>
              <a:srgbClr val="DCE2D7"/>
            </a:solidFill>
            <a:prstDash val="solid"/>
          </a:ln>
        </p:spPr>
      </p:sp>
      <p:pic>
        <p:nvPicPr>
          <p:cNvPr id="12" name="Image 0" descr="Noir Rainb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3816" y="1572768"/>
            <a:ext cx="1060704" cy="1591056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414016" y="16367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2500" dirty="0"/>
          </a:p>
        </p:txBody>
      </p:sp>
      <p:sp>
        <p:nvSpPr>
          <p:cNvPr id="14" name="Text 11"/>
          <p:cNvSpPr/>
          <p:nvPr/>
        </p:nvSpPr>
        <p:spPr>
          <a:xfrm>
            <a:off x="3328416" y="1700784"/>
            <a:ext cx="2148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880" dirty="0"/>
          </a:p>
        </p:txBody>
      </p:sp>
      <p:sp>
        <p:nvSpPr>
          <p:cNvPr id="15" name="Text 12"/>
          <p:cNvSpPr/>
          <p:nvPr/>
        </p:nvSpPr>
        <p:spPr>
          <a:xfrm>
            <a:off x="2414016" y="2185416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Refined everyday carved candles with Robertet fragrance options.</a:t>
            </a:r>
            <a:endParaRPr lang="en-US" sz="1060" dirty="0"/>
          </a:p>
        </p:txBody>
      </p:sp>
      <p:sp>
        <p:nvSpPr>
          <p:cNvPr id="16" name="Text 13"/>
          <p:cNvSpPr/>
          <p:nvPr/>
        </p:nvSpPr>
        <p:spPr>
          <a:xfrm>
            <a:off x="2414016" y="291693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from 18 pcs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4315968" y="2916936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 active designs</a:t>
            </a:r>
            <a:endParaRPr lang="en-US" sz="780" dirty="0"/>
          </a:p>
        </p:txBody>
      </p:sp>
      <p:sp>
        <p:nvSpPr>
          <p:cNvPr id="18" name="Shape 15"/>
          <p:cNvSpPr/>
          <p:nvPr/>
        </p:nvSpPr>
        <p:spPr>
          <a:xfrm>
            <a:off x="6199632" y="1417320"/>
            <a:ext cx="5413248" cy="1901952"/>
          </a:xfrm>
          <a:prstGeom prst="rect">
            <a:avLst/>
          </a:prstGeom>
          <a:solidFill>
            <a:srgbClr val="F1EBE4"/>
          </a:solidFill>
          <a:ln w="7620">
            <a:solidFill>
              <a:srgbClr val="DCD2C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199632" y="1417320"/>
            <a:ext cx="1554480" cy="1901952"/>
          </a:xfrm>
          <a:prstGeom prst="rect">
            <a:avLst/>
          </a:prstGeom>
          <a:solidFill>
            <a:srgbClr val="E6D2BE"/>
          </a:solidFill>
          <a:ln w="7620">
            <a:solidFill>
              <a:srgbClr val="E6D2BE"/>
            </a:solidFill>
            <a:prstDash val="solid"/>
          </a:ln>
        </p:spPr>
      </p:sp>
      <p:pic>
        <p:nvPicPr>
          <p:cNvPr id="20" name="Image 1" descr="Heartbe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572768"/>
            <a:ext cx="1060704" cy="1591056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046720" y="163677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</a:t>
            </a:r>
            <a:endParaRPr lang="en-US" sz="2500" dirty="0"/>
          </a:p>
        </p:txBody>
      </p:sp>
      <p:sp>
        <p:nvSpPr>
          <p:cNvPr id="22" name="Text 18"/>
          <p:cNvSpPr/>
          <p:nvPr/>
        </p:nvSpPr>
        <p:spPr>
          <a:xfrm>
            <a:off x="8961120" y="1700784"/>
            <a:ext cx="2148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880" dirty="0"/>
          </a:p>
        </p:txBody>
      </p:sp>
      <p:sp>
        <p:nvSpPr>
          <p:cNvPr id="23" name="Text 19"/>
          <p:cNvSpPr/>
          <p:nvPr/>
        </p:nvSpPr>
        <p:spPr>
          <a:xfrm>
            <a:off x="8046720" y="2185416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carved candles paired with CandleScience fragrance oils.</a:t>
            </a:r>
            <a:endParaRPr lang="en-US" sz="1060" dirty="0"/>
          </a:p>
        </p:txBody>
      </p:sp>
      <p:sp>
        <p:nvSpPr>
          <p:cNvPr id="24" name="Text 20"/>
          <p:cNvSpPr/>
          <p:nvPr/>
        </p:nvSpPr>
        <p:spPr>
          <a:xfrm>
            <a:off x="8046720" y="2916936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from 18 pcs</a:t>
            </a:r>
            <a:endParaRPr lang="en-US" sz="820" dirty="0"/>
          </a:p>
        </p:txBody>
      </p:sp>
      <p:sp>
        <p:nvSpPr>
          <p:cNvPr id="25" name="Text 21"/>
          <p:cNvSpPr/>
          <p:nvPr/>
        </p:nvSpPr>
        <p:spPr>
          <a:xfrm>
            <a:off x="9948672" y="2916936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 active designs</a:t>
            </a:r>
            <a:endParaRPr lang="en-US" sz="780" dirty="0"/>
          </a:p>
        </p:txBody>
      </p:sp>
      <p:sp>
        <p:nvSpPr>
          <p:cNvPr id="26" name="Shape 22"/>
          <p:cNvSpPr/>
          <p:nvPr/>
        </p:nvSpPr>
        <p:spPr>
          <a:xfrm>
            <a:off x="566928" y="3685032"/>
            <a:ext cx="5413248" cy="1901952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566928" y="3685032"/>
            <a:ext cx="1554480" cy="1901952"/>
          </a:xfrm>
          <a:prstGeom prst="rect">
            <a:avLst/>
          </a:prstGeom>
          <a:solidFill>
            <a:srgbClr val="E9D7D3"/>
          </a:solidFill>
          <a:ln w="7620">
            <a:solidFill>
              <a:srgbClr val="E9D7D3"/>
            </a:solidFill>
            <a:prstDash val="solid"/>
          </a:ln>
        </p:spPr>
      </p:sp>
      <p:pic>
        <p:nvPicPr>
          <p:cNvPr id="28" name="Image 2" descr="C0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57" y="3840480"/>
            <a:ext cx="1061222" cy="1591056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2414016" y="390448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2500" dirty="0"/>
          </a:p>
        </p:txBody>
      </p:sp>
      <p:sp>
        <p:nvSpPr>
          <p:cNvPr id="30" name="Text 25"/>
          <p:cNvSpPr/>
          <p:nvPr/>
        </p:nvSpPr>
        <p:spPr>
          <a:xfrm>
            <a:off x="3328416" y="3968496"/>
            <a:ext cx="2148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880" dirty="0"/>
          </a:p>
        </p:txBody>
      </p:sp>
      <p:sp>
        <p:nvSpPr>
          <p:cNvPr id="31" name="Text 26"/>
          <p:cNvSpPr/>
          <p:nvPr/>
        </p:nvSpPr>
        <p:spPr>
          <a:xfrm>
            <a:off x="2414016" y="445312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 carved candles with selectable fragrance-series options.</a:t>
            </a:r>
            <a:endParaRPr lang="en-US" sz="1060" dirty="0"/>
          </a:p>
        </p:txBody>
      </p:sp>
      <p:sp>
        <p:nvSpPr>
          <p:cNvPr id="32" name="Text 27"/>
          <p:cNvSpPr/>
          <p:nvPr/>
        </p:nvSpPr>
        <p:spPr>
          <a:xfrm>
            <a:off x="2414016" y="518464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from 18 pcs</a:t>
            </a:r>
            <a:endParaRPr lang="en-US" sz="820" dirty="0"/>
          </a:p>
        </p:txBody>
      </p:sp>
      <p:sp>
        <p:nvSpPr>
          <p:cNvPr id="33" name="Text 28"/>
          <p:cNvSpPr/>
          <p:nvPr/>
        </p:nvSpPr>
        <p:spPr>
          <a:xfrm>
            <a:off x="4315968" y="5184648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 active designs</a:t>
            </a:r>
            <a:endParaRPr lang="en-US" sz="780" dirty="0"/>
          </a:p>
        </p:txBody>
      </p:sp>
      <p:sp>
        <p:nvSpPr>
          <p:cNvPr id="34" name="Shape 29"/>
          <p:cNvSpPr/>
          <p:nvPr/>
        </p:nvSpPr>
        <p:spPr>
          <a:xfrm>
            <a:off x="6199632" y="3685032"/>
            <a:ext cx="5413248" cy="1901952"/>
          </a:xfrm>
          <a:prstGeom prst="rect">
            <a:avLst/>
          </a:prstGeom>
          <a:solidFill>
            <a:srgbClr val="F1EBE4"/>
          </a:solidFill>
          <a:ln w="7620">
            <a:solidFill>
              <a:srgbClr val="DCD2C8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6199632" y="3685032"/>
            <a:ext cx="1554480" cy="1901952"/>
          </a:xfrm>
          <a:prstGeom prst="rect">
            <a:avLst/>
          </a:prstGeom>
          <a:solidFill>
            <a:srgbClr val="DDE2E3"/>
          </a:solidFill>
          <a:ln w="7620">
            <a:solidFill>
              <a:srgbClr val="DDE2E3"/>
            </a:solidFill>
            <a:prstDash val="solid"/>
          </a:ln>
        </p:spPr>
      </p:sp>
      <p:pic>
        <p:nvPicPr>
          <p:cNvPr id="36" name="Image 3" descr="Dongchuan Crimson Gl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261" y="3840480"/>
            <a:ext cx="1061222" cy="159105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8046720" y="390448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2500" dirty="0"/>
          </a:p>
        </p:txBody>
      </p:sp>
      <p:sp>
        <p:nvSpPr>
          <p:cNvPr id="38" name="Text 32"/>
          <p:cNvSpPr/>
          <p:nvPr/>
        </p:nvSpPr>
        <p:spPr>
          <a:xfrm>
            <a:off x="8961120" y="3968496"/>
            <a:ext cx="214884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880" dirty="0"/>
          </a:p>
        </p:txBody>
      </p:sp>
      <p:sp>
        <p:nvSpPr>
          <p:cNvPr id="39" name="Text 33"/>
          <p:cNvSpPr/>
          <p:nvPr/>
        </p:nvSpPr>
        <p:spPr>
          <a:xfrm>
            <a:off x="8046720" y="4453128"/>
            <a:ext cx="31272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6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Essential carved candles with a lighter fragrance profile.</a:t>
            </a:r>
            <a:endParaRPr lang="en-US" sz="1060" dirty="0"/>
          </a:p>
        </p:txBody>
      </p:sp>
      <p:sp>
        <p:nvSpPr>
          <p:cNvPr id="40" name="Text 34"/>
          <p:cNvSpPr/>
          <p:nvPr/>
        </p:nvSpPr>
        <p:spPr>
          <a:xfrm>
            <a:off x="8046720" y="5184648"/>
            <a:ext cx="2194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from 18 pcs</a:t>
            </a:r>
            <a:endParaRPr lang="en-US" sz="820" dirty="0"/>
          </a:p>
        </p:txBody>
      </p:sp>
      <p:sp>
        <p:nvSpPr>
          <p:cNvPr id="41" name="Text 35"/>
          <p:cNvSpPr/>
          <p:nvPr/>
        </p:nvSpPr>
        <p:spPr>
          <a:xfrm>
            <a:off x="9948672" y="5184648"/>
            <a:ext cx="124358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 active designs</a:t>
            </a:r>
            <a:endParaRPr lang="en-US" sz="780" dirty="0"/>
          </a:p>
        </p:txBody>
      </p:sp>
      <p:sp>
        <p:nvSpPr>
          <p:cNvPr id="42" name="Text 36"/>
          <p:cNvSpPr/>
          <p:nvPr/>
        </p:nvSpPr>
        <p:spPr>
          <a:xfrm>
            <a:off x="566928" y="5806440"/>
            <a:ext cx="2331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90" b="1" spc="90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TO USE THIS CATALOG</a:t>
            </a:r>
            <a:endParaRPr lang="en-US" sz="790" dirty="0"/>
          </a:p>
        </p:txBody>
      </p:sp>
      <p:sp>
        <p:nvSpPr>
          <p:cNvPr id="43" name="Text 37"/>
          <p:cNvSpPr/>
          <p:nvPr/>
        </p:nvSpPr>
        <p:spPr>
          <a:xfrm>
            <a:off x="2834640" y="5742432"/>
            <a:ext cx="5961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8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product ID as the reference. Size and MOQ are confirmed by series; fragrance, packaging and customization are finalized with the quotation.</a:t>
            </a:r>
            <a:endParaRPr lang="en-US" sz="880" dirty="0"/>
          </a:p>
        </p:txBody>
      </p:sp>
      <p:sp>
        <p:nvSpPr>
          <p:cNvPr id="44" name="Text 38"/>
          <p:cNvSpPr/>
          <p:nvPr/>
        </p:nvSpPr>
        <p:spPr>
          <a:xfrm>
            <a:off x="9144000" y="5806440"/>
            <a:ext cx="2468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b="1" spc="60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PRICING IS NOT EMBEDDED</a:t>
            </a:r>
            <a:endParaRPr lang="en-US" sz="76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0"/>
            <a:ext cx="5696712" cy="6858000"/>
          </a:xfrm>
          <a:prstGeom prst="rect">
            <a:avLst/>
          </a:prstGeom>
          <a:solidFill>
            <a:srgbClr val="DCE2D7"/>
          </a:solidFill>
          <a:ln w="7620">
            <a:solidFill>
              <a:srgbClr val="DCE2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7548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C7A7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566928" y="123444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566928" y="248716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Refined everyday carved candles with Robertet fragrance options.</a:t>
            </a:r>
            <a:endParaRPr lang="en-US" sz="152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4709160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315968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7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 DESIGNS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566928" y="4617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94560" y="4315968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7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BY SIZE</a:t>
            </a:r>
            <a:endParaRPr lang="en-US" sz="730" dirty="0"/>
          </a:p>
        </p:txBody>
      </p:sp>
      <p:sp>
        <p:nvSpPr>
          <p:cNvPr id="11" name="Text 9"/>
          <p:cNvSpPr/>
          <p:nvPr/>
        </p:nvSpPr>
        <p:spPr>
          <a:xfrm>
            <a:off x="2194560" y="46177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36  ·  M 24  ·  L 18  ·  XL 18</a:t>
            </a:r>
            <a:endParaRPr lang="en-US" sz="940" dirty="0"/>
          </a:p>
        </p:txBody>
      </p:sp>
      <p:sp>
        <p:nvSpPr>
          <p:cNvPr id="12" name="Text 10"/>
          <p:cNvSpPr/>
          <p:nvPr/>
        </p:nvSpPr>
        <p:spPr>
          <a:xfrm>
            <a:off x="4151376" y="4315968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7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NOTES</a:t>
            </a:r>
            <a:endParaRPr lang="en-US" sz="730" dirty="0"/>
          </a:p>
        </p:txBody>
      </p:sp>
      <p:sp>
        <p:nvSpPr>
          <p:cNvPr id="13" name="Text 11"/>
          <p:cNvSpPr/>
          <p:nvPr/>
        </p:nvSpPr>
        <p:spPr>
          <a:xfrm>
            <a:off x="4151376" y="4617720"/>
            <a:ext cx="1124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6766560" y="914400"/>
            <a:ext cx="2761488" cy="4937760"/>
          </a:xfrm>
          <a:prstGeom prst="rect">
            <a:avLst/>
          </a:prstGeom>
          <a:solidFill>
            <a:srgbClr val="FCFAF7"/>
          </a:solidFill>
          <a:ln w="7620">
            <a:solidFill>
              <a:srgbClr val="FCFAF7"/>
            </a:solidFill>
            <a:prstDash val="solid"/>
          </a:ln>
        </p:spPr>
      </p:sp>
      <p:pic>
        <p:nvPicPr>
          <p:cNvPr id="15" name="Image 0" descr="Noir Rainb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449324"/>
            <a:ext cx="2578608" cy="3867912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720072" y="1426464"/>
            <a:ext cx="2011680" cy="3913632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7" name="Image 1" descr="Misty Reed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3224" y="1984248"/>
            <a:ext cx="1865376" cy="279806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9720072" y="5468112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ADV002</a:t>
            </a:r>
            <a:endParaRPr lang="en-US" sz="710" dirty="0"/>
          </a:p>
        </p:txBody>
      </p:sp>
      <p:sp>
        <p:nvSpPr>
          <p:cNvPr id="19" name="Shape 1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21" name="Text 1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03</a:t>
            </a:r>
            <a:endParaRPr lang="en-US" sz="77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DCE2D7"/>
          </a:solidFill>
          <a:ln w="7620">
            <a:solidFill>
              <a:srgbClr val="DCE2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01–04 of 19  ·  1/5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04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Noir Rainb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ADV001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Noir Rainbow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C01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Misty Reed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ADV002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Misty Reeds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C02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Freu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ADV003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Freud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C03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Golden Coa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ADV004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Coast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C04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DCE2D7"/>
          </a:solidFill>
          <a:ln w="7620">
            <a:solidFill>
              <a:srgbClr val="DCE2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05–08 of 19  ·  2/5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05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Sunset Cor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ADV005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Sunset Coral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C05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Pumpkin Pi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ADV006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Pumpkin Pie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C06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Peach Reveri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ADV007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Peach Reverie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C07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Forest Ti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ADV008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Forest Tide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C08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DCE2D7"/>
          </a:solidFill>
          <a:ln w="7620">
            <a:solidFill>
              <a:srgbClr val="DCE2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09–12 of 19  ·  3/5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06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Fireside Christma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ADV009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Fireside Christmas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C09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Gentle Warmt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ADV010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Gentle Warmth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C10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Clear Sky Rai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ADV011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Clear Sky Rain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C11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Ede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ADV012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Eden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C12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DCE2D7"/>
          </a:solidFill>
          <a:ln w="7620">
            <a:solidFill>
              <a:srgbClr val="DCE2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13–16 of 19  ·  4/5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07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Moonlit Treas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ADV013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Moonlit Treasure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C13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Cosmic Moch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ADV014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Cosmic Mocha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C14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Yellow Gre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ADV015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Yellow Green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C15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Arles Oce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ADV016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Arles Ocean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C16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DCE2D7"/>
          </a:solidFill>
          <a:ln w="7620">
            <a:solidFill>
              <a:srgbClr val="DCE2D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Advanced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17–19 of 19  ·  5/5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08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659740" y="1344168"/>
            <a:ext cx="3429000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Dusky Afterg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97051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59740" y="4586630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ADV017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659740" y="484266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Dusky Afterglow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659740" y="5427878"/>
            <a:ext cx="3429000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9740" y="5546750"/>
            <a:ext cx="14401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659740" y="5711342"/>
            <a:ext cx="1440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C17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2305660" y="5546750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2305660" y="571134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659740" y="6022238"/>
            <a:ext cx="3429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659740" y="6186830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4381348" y="1344168"/>
            <a:ext cx="3429000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Migratory Is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8659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381348" y="4586630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ADV018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4381348" y="484266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Migratory Isle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4381348" y="5427878"/>
            <a:ext cx="3429000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4381348" y="5546750"/>
            <a:ext cx="14401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4381348" y="5711342"/>
            <a:ext cx="1440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C18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6027268" y="5546750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6027268" y="571134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4381348" y="6022238"/>
            <a:ext cx="3429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4381348" y="6186830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8102956" y="1344168"/>
            <a:ext cx="3429000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California Dream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0267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8102956" y="4586630"/>
            <a:ext cx="3429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ADV019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8102956" y="4842662"/>
            <a:ext cx="3429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California Dream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8102956" y="5427878"/>
            <a:ext cx="3429000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8102956" y="5546750"/>
            <a:ext cx="14401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8102956" y="5711342"/>
            <a:ext cx="1440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C19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9748876" y="5546750"/>
            <a:ext cx="1783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9748876" y="5711342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8102956" y="6022238"/>
            <a:ext cx="34290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8102956" y="6186830"/>
            <a:ext cx="3429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Robertet  ·  8% fragrance</a:t>
            </a:r>
            <a:endParaRPr lang="en-US" sz="770" dirty="0"/>
          </a:p>
        </p:txBody>
      </p:sp>
      <p:sp>
        <p:nvSpPr>
          <p:cNvPr id="43" name="Text 3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96712" cy="6858000"/>
          </a:xfrm>
          <a:prstGeom prst="rect">
            <a:avLst/>
          </a:prstGeom>
          <a:solidFill>
            <a:srgbClr val="E6D2BE"/>
          </a:solidFill>
          <a:ln w="7620">
            <a:solidFill>
              <a:srgbClr val="E6D2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73952" y="47548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C7A7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6473952" y="123444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473952" y="1591056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473952" y="248716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carved candles paired with CandleScience fragrance oils.</a:t>
            </a:r>
            <a:endParaRPr lang="en-US" sz="1520" dirty="0"/>
          </a:p>
        </p:txBody>
      </p:sp>
      <p:sp>
        <p:nvSpPr>
          <p:cNvPr id="7" name="Shape 5"/>
          <p:cNvSpPr/>
          <p:nvPr/>
        </p:nvSpPr>
        <p:spPr>
          <a:xfrm>
            <a:off x="6473952" y="4114800"/>
            <a:ext cx="4709160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3952" y="4315968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7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 DESIGNS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73952" y="4617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46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8101584" y="4315968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7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BY SIZE</a:t>
            </a:r>
            <a:endParaRPr lang="en-US" sz="730" dirty="0"/>
          </a:p>
        </p:txBody>
      </p:sp>
      <p:sp>
        <p:nvSpPr>
          <p:cNvPr id="11" name="Text 9"/>
          <p:cNvSpPr/>
          <p:nvPr/>
        </p:nvSpPr>
        <p:spPr>
          <a:xfrm>
            <a:off x="8101584" y="46177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36  ·  M 24  ·  L 18  ·  XL 18</a:t>
            </a:r>
            <a:endParaRPr lang="en-US" sz="940" dirty="0"/>
          </a:p>
        </p:txBody>
      </p:sp>
      <p:sp>
        <p:nvSpPr>
          <p:cNvPr id="12" name="Text 10"/>
          <p:cNvSpPr/>
          <p:nvPr/>
        </p:nvSpPr>
        <p:spPr>
          <a:xfrm>
            <a:off x="10058400" y="4315968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7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NOTES</a:t>
            </a:r>
            <a:endParaRPr lang="en-US" sz="730" dirty="0"/>
          </a:p>
        </p:txBody>
      </p:sp>
      <p:sp>
        <p:nvSpPr>
          <p:cNvPr id="13" name="Text 11"/>
          <p:cNvSpPr/>
          <p:nvPr/>
        </p:nvSpPr>
        <p:spPr>
          <a:xfrm>
            <a:off x="10058400" y="4617720"/>
            <a:ext cx="1124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74320" y="914400"/>
            <a:ext cx="2761488" cy="4937760"/>
          </a:xfrm>
          <a:prstGeom prst="rect">
            <a:avLst/>
          </a:prstGeom>
          <a:solidFill>
            <a:srgbClr val="FCFAF7"/>
          </a:solidFill>
          <a:ln w="7620">
            <a:solidFill>
              <a:srgbClr val="FCFAF7"/>
            </a:solidFill>
            <a:prstDash val="solid"/>
          </a:ln>
        </p:spPr>
      </p:sp>
      <p:pic>
        <p:nvPicPr>
          <p:cNvPr id="15" name="Image 0" descr="Heartbe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49324"/>
            <a:ext cx="2578608" cy="3867912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3730752" y="1426464"/>
            <a:ext cx="2011680" cy="3913632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7" name="Image 1" descr="J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904" y="1984248"/>
            <a:ext cx="1865376" cy="279806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730752" y="5468112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MPC002</a:t>
            </a:r>
            <a:endParaRPr lang="en-US" sz="710" dirty="0"/>
          </a:p>
        </p:txBody>
      </p:sp>
      <p:sp>
        <p:nvSpPr>
          <p:cNvPr id="19" name="Shape 1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21" name="Text 1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09</a:t>
            </a:r>
            <a:endParaRPr lang="en-US" sz="77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6D2BE"/>
          </a:solidFill>
          <a:ln w="7620">
            <a:solidFill>
              <a:srgbClr val="E6D2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01–04 of 46  ·  1/12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10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Heartbea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MPC001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Heartbeat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C20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Jo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MPC002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Joy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C21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Secret Gard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MPC003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Secret Garden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C22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Brown Sugar Latt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MPC004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Brown Sugar Latte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C23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6D2BE"/>
          </a:solidFill>
          <a:ln w="7620">
            <a:solidFill>
              <a:srgbClr val="E6D2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05–08 of 46  ·  2/12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11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Silent N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MPC005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Silent Night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C24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Isab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MPC006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Isabella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C25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Cranberry Rou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MPC007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Cranberry Rouge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C26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Madame Butterfl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MPC008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Madame Butterfly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C27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6D2BE"/>
          </a:solidFill>
          <a:ln w="7620">
            <a:solidFill>
              <a:srgbClr val="E6D2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09–12 of 46  ·  3/12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12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Blooming Wonderl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MPC009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Blooming Wonderland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C28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Island With You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MPC010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Island With You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C29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Siriu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MPC011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Sirius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C30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Starry Serenit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MPC012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Starry Serenity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C31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6D2BE"/>
          </a:solidFill>
          <a:ln w="7620">
            <a:solidFill>
              <a:srgbClr val="E6D2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13–16 of 46  ·  4/12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13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Serap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MPC013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Seraph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C32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Celadon G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MPC014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Celadon Green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C33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Bahama Mir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MPC015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Bahama Mirage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C34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Light Encount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MPC016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 Encounter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C35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6D2BE"/>
          </a:solidFill>
          <a:ln w="7620">
            <a:solidFill>
              <a:srgbClr val="E6D2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17–20 of 46  ·  5/12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14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Qingqing Ziji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MPC017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Qingqing Zijin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C36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M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MPC018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C37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Orange Sod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MPC019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Orange Soda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C38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Moonlit Fros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MPC020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Moonlit Frost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C39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6D2BE"/>
          </a:solidFill>
          <a:ln w="7620">
            <a:solidFill>
              <a:srgbClr val="E6D2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21–24 of 46  ·  6/12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15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Deep Se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MPC021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Deep Sea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C40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Love You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MPC022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Love You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C41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Paradis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MPC023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Paradise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C42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Whale Fall Galaxy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MPC024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Whale Fall Galaxy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C43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6D2BE"/>
          </a:solidFill>
          <a:ln w="7620">
            <a:solidFill>
              <a:srgbClr val="E6D2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25–28 of 46  ·  7/12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16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Sea Salt Jasm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MPC025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 Salt Jasmine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C44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Peach Blossom Dre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MPC026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Peach Blossom Dream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C45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Fairy T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MPC027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Fairy Tale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C46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Winnie Be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MPC028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Winnie Bear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C47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6D2BE"/>
          </a:solidFill>
          <a:ln w="7620">
            <a:solidFill>
              <a:srgbClr val="E6D2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29–32 of 46  ·  8/12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17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Summer Dre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MPC029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Summer Dream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C48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Night Wi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MPC030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Night Wish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C49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Colored Glaz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MPC031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Colored Glaze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C50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Du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MPC032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Dune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C51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6D2BE"/>
          </a:solidFill>
          <a:ln w="7620">
            <a:solidFill>
              <a:srgbClr val="E6D2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33–36 of 46  ·  9/12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18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Little Pri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MPC033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Little Prince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C52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Bubb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MPC034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Bubble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C53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Arles Ocea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MPC036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Arles Ocean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Noir Rainb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MPC037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Noir Rainbow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6D2BE"/>
          </a:solidFill>
          <a:ln w="7620">
            <a:solidFill>
              <a:srgbClr val="E6D2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37–40 of 46  ·  10/12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19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Misty Reed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MPC038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Misty Reeds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Freu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MPC039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Freud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Golden Coa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MPC040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Coast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Dusky Aftergl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MPC041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Dusky Afterglow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6D2BE"/>
          </a:solidFill>
          <a:ln w="7620">
            <a:solidFill>
              <a:srgbClr val="E6D2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41–44 of 46  ·  11/12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20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Migratory Is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5045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MPC042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Migratory Isle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California Dream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82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MPC043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California Dream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Moonlit Treasur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605" y="1417320"/>
            <a:ext cx="1954378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MPC044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Moonlit Treasure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Fireside Christma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0385" y="1417320"/>
            <a:ext cx="1954378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MPC048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Fireside Christmas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6D2BE"/>
          </a:solidFill>
          <a:ln w="7620">
            <a:solidFill>
              <a:srgbClr val="E6D2B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Masterpiece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45–46 of 46  ·  12/12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21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1715872" y="1344168"/>
            <a:ext cx="4160520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Forest Ti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18943" y="1417320"/>
            <a:ext cx="1954378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1715872" y="4586630"/>
            <a:ext cx="4160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MPC049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1715872" y="4842662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Forest Tide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1715872" y="5427878"/>
            <a:ext cx="4160520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715872" y="5546750"/>
            <a:ext cx="17474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1715872" y="5711342"/>
            <a:ext cx="17474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3712921" y="5546750"/>
            <a:ext cx="21634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3712921" y="5711342"/>
            <a:ext cx="21634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1715872" y="6022238"/>
            <a:ext cx="4160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1715872" y="618683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6315304" y="1344168"/>
            <a:ext cx="4160520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Cosmic Moch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8375" y="1417320"/>
            <a:ext cx="1954378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6315304" y="4586630"/>
            <a:ext cx="4160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MPC050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6315304" y="4842662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Cosmic Mocha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6315304" y="5427878"/>
            <a:ext cx="4160520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315304" y="5546750"/>
            <a:ext cx="17474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6315304" y="5711342"/>
            <a:ext cx="17474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8312353" y="5546750"/>
            <a:ext cx="216347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8312353" y="5711342"/>
            <a:ext cx="216347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6315304" y="6022238"/>
            <a:ext cx="4160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6315304" y="6186830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CandleScience  ·  10% fragrance</a:t>
            </a:r>
            <a:endParaRPr lang="en-US" sz="770" dirty="0"/>
          </a:p>
        </p:txBody>
      </p:sp>
      <p:sp>
        <p:nvSpPr>
          <p:cNvPr id="32" name="Text 2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92240" y="0"/>
            <a:ext cx="5696712" cy="6858000"/>
          </a:xfrm>
          <a:prstGeom prst="rect">
            <a:avLst/>
          </a:prstGeom>
          <a:solidFill>
            <a:srgbClr val="E9D7D3"/>
          </a:solidFill>
          <a:ln w="7620">
            <a:solidFill>
              <a:srgbClr val="E9D7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47548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C7A7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566928" y="123444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566928" y="1591056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566928" y="248716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Seasonal carved candles with selectable fragrance-series options.</a:t>
            </a:r>
            <a:endParaRPr lang="en-US" sz="152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4709160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315968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7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 DESIGNS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566928" y="4617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194560" y="4315968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7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BY SIZE</a:t>
            </a:r>
            <a:endParaRPr lang="en-US" sz="730" dirty="0"/>
          </a:p>
        </p:txBody>
      </p:sp>
      <p:sp>
        <p:nvSpPr>
          <p:cNvPr id="11" name="Text 9"/>
          <p:cNvSpPr/>
          <p:nvPr/>
        </p:nvSpPr>
        <p:spPr>
          <a:xfrm>
            <a:off x="2194560" y="46177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36  ·  M 24  ·  L 18  ·  XL 18</a:t>
            </a:r>
            <a:endParaRPr lang="en-US" sz="940" dirty="0"/>
          </a:p>
        </p:txBody>
      </p:sp>
      <p:sp>
        <p:nvSpPr>
          <p:cNvPr id="12" name="Text 10"/>
          <p:cNvSpPr/>
          <p:nvPr/>
        </p:nvSpPr>
        <p:spPr>
          <a:xfrm>
            <a:off x="4151376" y="4315968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7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NOTES</a:t>
            </a:r>
            <a:endParaRPr lang="en-US" sz="730" dirty="0"/>
          </a:p>
        </p:txBody>
      </p:sp>
      <p:sp>
        <p:nvSpPr>
          <p:cNvPr id="13" name="Text 11"/>
          <p:cNvSpPr/>
          <p:nvPr/>
        </p:nvSpPr>
        <p:spPr>
          <a:xfrm>
            <a:off x="4151376" y="4617720"/>
            <a:ext cx="1124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6766560" y="914400"/>
            <a:ext cx="2761488" cy="4937760"/>
          </a:xfrm>
          <a:prstGeom prst="rect">
            <a:avLst/>
          </a:prstGeom>
          <a:solidFill>
            <a:srgbClr val="FCFAF7"/>
          </a:solidFill>
          <a:ln w="7620">
            <a:solidFill>
              <a:srgbClr val="FCFAF7"/>
            </a:solidFill>
            <a:prstDash val="solid"/>
          </a:ln>
        </p:spPr>
      </p:sp>
      <p:pic>
        <p:nvPicPr>
          <p:cNvPr id="15" name="Image 0" descr="C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450268"/>
            <a:ext cx="2578608" cy="3866024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9720072" y="1426464"/>
            <a:ext cx="2011680" cy="3913632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7" name="Image 1" descr="C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3224" y="1984931"/>
            <a:ext cx="1865376" cy="279669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9720072" y="5468112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HOL002</a:t>
            </a:r>
            <a:endParaRPr lang="en-US" sz="710" dirty="0"/>
          </a:p>
        </p:txBody>
      </p:sp>
      <p:sp>
        <p:nvSpPr>
          <p:cNvPr id="19" name="Shape 1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21" name="Text 1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22</a:t>
            </a:r>
            <a:endParaRPr lang="en-US" sz="77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9D7D3"/>
          </a:solidFill>
          <a:ln w="7620">
            <a:solidFill>
              <a:srgbClr val="E9D7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01–04 of 16  ·  1/4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23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C0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568" y="1417320"/>
            <a:ext cx="1955332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HOL001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C01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C01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C0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348" y="1417320"/>
            <a:ext cx="1955332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HOL002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C02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C02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Christmas Carved Candle C0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128" y="1417320"/>
            <a:ext cx="1955332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HOL003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C03</a:t>
            </a:r>
            <a:endParaRPr lang="en-US" sz="132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C03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Christmas Carved Candle C0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9908" y="1417320"/>
            <a:ext cx="1955332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HOL004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C04</a:t>
            </a:r>
            <a:endParaRPr lang="en-US" sz="132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C04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9D7D3"/>
          </a:solidFill>
          <a:ln w="7620">
            <a:solidFill>
              <a:srgbClr val="E9D7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05–08 of 16  ·  2/4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24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Christmas Carved Candle C0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568" y="1417320"/>
            <a:ext cx="1955332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HOL005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C05</a:t>
            </a:r>
            <a:endParaRPr lang="en-US" sz="132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C05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Christmas Carved Candle C0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348" y="1417320"/>
            <a:ext cx="1955332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HOL006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C06</a:t>
            </a:r>
            <a:endParaRPr lang="en-US" sz="132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C06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Christmas Carved Candle C07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128" y="1417320"/>
            <a:ext cx="1955332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HOL007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C07</a:t>
            </a:r>
            <a:endParaRPr lang="en-US" sz="132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C07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Christmas Carved Candle C08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9908" y="1417320"/>
            <a:ext cx="1955332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HOL008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C08</a:t>
            </a:r>
            <a:endParaRPr lang="en-US" sz="132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C08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9D7D3"/>
          </a:solidFill>
          <a:ln w="7620">
            <a:solidFill>
              <a:srgbClr val="E9D7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09–12 of 16  ·  3/4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25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Christmas Carved Candle - No White Snowflake Drizz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568" y="1417320"/>
            <a:ext cx="1955332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HOL009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- No White Snowflake Drizzle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C09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Christmas Carved Candle C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348" y="1417320"/>
            <a:ext cx="1955332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HOL010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C10</a:t>
            </a:r>
            <a:endParaRPr lang="en-US" sz="132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C10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Christmas Carved Candle C1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128" y="1417320"/>
            <a:ext cx="1955332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HOL011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C11</a:t>
            </a:r>
            <a:endParaRPr lang="en-US" sz="132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C11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Christmas Carved Candle C1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9908" y="1417320"/>
            <a:ext cx="1955332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HOL012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C12</a:t>
            </a:r>
            <a:endParaRPr lang="en-US" sz="132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C12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E9D7D3"/>
          </a:solidFill>
          <a:ln w="7620">
            <a:solidFill>
              <a:srgbClr val="E9D7D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Holiday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13–16 of 16  ·  4/4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26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Christmas Carved Candle C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568" y="1417320"/>
            <a:ext cx="1955332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HOL013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C13</a:t>
            </a:r>
            <a:endParaRPr lang="en-US" sz="132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C13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Christmas Carved Candle C14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348" y="1417320"/>
            <a:ext cx="1955332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HOL014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C14</a:t>
            </a:r>
            <a:endParaRPr lang="en-US" sz="132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C14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Christmas Carved Candle C15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128" y="1417320"/>
            <a:ext cx="1955332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HOL015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C15</a:t>
            </a:r>
            <a:endParaRPr lang="en-US" sz="132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C15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Christmas Carved Candle C16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9908" y="1417320"/>
            <a:ext cx="1955332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HOL016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Carved Candle C16</a:t>
            </a:r>
            <a:endParaRPr lang="en-US" sz="132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C16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Christmas  ·  selectable scent series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96712" cy="6858000"/>
          </a:xfrm>
          <a:prstGeom prst="rect">
            <a:avLst/>
          </a:prstGeom>
          <a:solidFill>
            <a:srgbClr val="DDE2E3"/>
          </a:solidFill>
          <a:ln w="7620">
            <a:solidFill>
              <a:srgbClr val="DDE2E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73952" y="475488"/>
            <a:ext cx="1188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500" b="1" dirty="0">
                <a:solidFill>
                  <a:srgbClr val="C7A7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3500" dirty="0"/>
          </a:p>
        </p:txBody>
      </p:sp>
      <p:sp>
        <p:nvSpPr>
          <p:cNvPr id="4" name="Text 2"/>
          <p:cNvSpPr/>
          <p:nvPr/>
        </p:nvSpPr>
        <p:spPr>
          <a:xfrm>
            <a:off x="6473952" y="1234440"/>
            <a:ext cx="4023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COLLECTION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473952" y="1591056"/>
            <a:ext cx="47548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</a:t>
            </a:r>
            <a:endParaRPr lang="en-US" sz="3700" dirty="0"/>
          </a:p>
        </p:txBody>
      </p:sp>
      <p:sp>
        <p:nvSpPr>
          <p:cNvPr id="6" name="Text 4"/>
          <p:cNvSpPr/>
          <p:nvPr/>
        </p:nvSpPr>
        <p:spPr>
          <a:xfrm>
            <a:off x="6473952" y="2487168"/>
            <a:ext cx="4434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2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Essential carved candles with a lighter fragrance profile.</a:t>
            </a:r>
            <a:endParaRPr lang="en-US" sz="1520" dirty="0"/>
          </a:p>
        </p:txBody>
      </p:sp>
      <p:sp>
        <p:nvSpPr>
          <p:cNvPr id="7" name="Shape 5"/>
          <p:cNvSpPr/>
          <p:nvPr/>
        </p:nvSpPr>
        <p:spPr>
          <a:xfrm>
            <a:off x="6473952" y="4114800"/>
            <a:ext cx="4709160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73952" y="4315968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7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ACTIVE DESIGNS</a:t>
            </a:r>
            <a:endParaRPr lang="en-US" sz="730" dirty="0"/>
          </a:p>
        </p:txBody>
      </p:sp>
      <p:sp>
        <p:nvSpPr>
          <p:cNvPr id="9" name="Text 7"/>
          <p:cNvSpPr/>
          <p:nvPr/>
        </p:nvSpPr>
        <p:spPr>
          <a:xfrm>
            <a:off x="6473952" y="4617720"/>
            <a:ext cx="1005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8101584" y="4315968"/>
            <a:ext cx="141732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7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MOQ BY SIZE</a:t>
            </a:r>
            <a:endParaRPr lang="en-US" sz="730" dirty="0"/>
          </a:p>
        </p:txBody>
      </p:sp>
      <p:sp>
        <p:nvSpPr>
          <p:cNvPr id="11" name="Text 9"/>
          <p:cNvSpPr/>
          <p:nvPr/>
        </p:nvSpPr>
        <p:spPr>
          <a:xfrm>
            <a:off x="8101584" y="4617720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36  ·  M 24  ·  L 18  ·  XL 18</a:t>
            </a:r>
            <a:endParaRPr lang="en-US" sz="940" dirty="0"/>
          </a:p>
        </p:txBody>
      </p:sp>
      <p:sp>
        <p:nvSpPr>
          <p:cNvPr id="12" name="Text 10"/>
          <p:cNvSpPr/>
          <p:nvPr/>
        </p:nvSpPr>
        <p:spPr>
          <a:xfrm>
            <a:off x="10058400" y="4315968"/>
            <a:ext cx="112471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spc="7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SERIES NOTES</a:t>
            </a:r>
            <a:endParaRPr lang="en-US" sz="730" dirty="0"/>
          </a:p>
        </p:txBody>
      </p:sp>
      <p:sp>
        <p:nvSpPr>
          <p:cNvPr id="13" name="Text 11"/>
          <p:cNvSpPr/>
          <p:nvPr/>
        </p:nvSpPr>
        <p:spPr>
          <a:xfrm>
            <a:off x="10058400" y="4617720"/>
            <a:ext cx="11247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·  S/M/L/XL mixable</a:t>
            </a:r>
            <a:endParaRPr lang="en-US" sz="820" dirty="0"/>
          </a:p>
        </p:txBody>
      </p:sp>
      <p:sp>
        <p:nvSpPr>
          <p:cNvPr id="14" name="Shape 12"/>
          <p:cNvSpPr/>
          <p:nvPr/>
        </p:nvSpPr>
        <p:spPr>
          <a:xfrm>
            <a:off x="274320" y="914400"/>
            <a:ext cx="2761488" cy="4937760"/>
          </a:xfrm>
          <a:prstGeom prst="rect">
            <a:avLst/>
          </a:prstGeom>
          <a:solidFill>
            <a:srgbClr val="FCFAF7"/>
          </a:solidFill>
          <a:ln w="7620">
            <a:solidFill>
              <a:srgbClr val="FCFAF7"/>
            </a:solidFill>
            <a:prstDash val="solid"/>
          </a:ln>
        </p:spPr>
      </p:sp>
      <p:pic>
        <p:nvPicPr>
          <p:cNvPr id="15" name="Image 0" descr="Dongchuan Crimson G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50268"/>
            <a:ext cx="2578608" cy="3866024"/>
          </a:xfrm>
          <a:prstGeom prst="rect">
            <a:avLst/>
          </a:prstGeom>
        </p:spPr>
      </p:pic>
      <p:sp>
        <p:nvSpPr>
          <p:cNvPr id="16" name="Shape 13"/>
          <p:cNvSpPr/>
          <p:nvPr/>
        </p:nvSpPr>
        <p:spPr>
          <a:xfrm>
            <a:off x="3730752" y="1426464"/>
            <a:ext cx="2011680" cy="3913632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7" name="Image 1" descr="Meili Afterg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904" y="1984931"/>
            <a:ext cx="1865376" cy="279669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730752" y="5468112"/>
            <a:ext cx="2011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CLA002</a:t>
            </a:r>
            <a:endParaRPr lang="en-US" sz="710" dirty="0"/>
          </a:p>
        </p:txBody>
      </p:sp>
      <p:sp>
        <p:nvSpPr>
          <p:cNvPr id="19" name="Shape 1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21" name="Text 1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27</a:t>
            </a:r>
            <a:endParaRPr lang="en-US" sz="77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DDE2E3"/>
          </a:solidFill>
          <a:ln w="7620">
            <a:solidFill>
              <a:srgbClr val="DDE2E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01–04 of 8  ·  1/2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28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Dongchuan Crimson Gl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568" y="1417320"/>
            <a:ext cx="1955332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CLA001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Dongchuan Crimson Glow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C01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·  S/M/L/XL mixable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Meili Afterglo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348" y="1417320"/>
            <a:ext cx="1955332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CLA002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Meili Afterglow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C02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·  S/M/L/XL mixable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Luoping Golden Wav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128" y="1417320"/>
            <a:ext cx="1955332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CLA003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Luoping Golden Waves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C03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·  S/M/L/XL mixable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Banna Verdant Layer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9908" y="1417320"/>
            <a:ext cx="1955332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CLA004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Banna Verdant Layers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C04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·  S/M/L/XL mixable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100584" cy="100584"/>
          </a:xfrm>
          <a:prstGeom prst="rect">
            <a:avLst/>
          </a:prstGeom>
          <a:solidFill>
            <a:srgbClr val="DDE2E3"/>
          </a:solidFill>
          <a:ln w="7620">
            <a:solidFill>
              <a:srgbClr val="DDE2E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356616"/>
            <a:ext cx="3840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1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COLLECTION</a:t>
            </a:r>
            <a:endParaRPr lang="en-US" sz="820" dirty="0"/>
          </a:p>
        </p:txBody>
      </p:sp>
      <p:sp>
        <p:nvSpPr>
          <p:cNvPr id="4" name="Text 2"/>
          <p:cNvSpPr/>
          <p:nvPr/>
        </p:nvSpPr>
        <p:spPr>
          <a:xfrm>
            <a:off x="566928" y="65836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Classic — Product Selection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0" y="71323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05–08 of 8  ·  2/2</a:t>
            </a:r>
            <a:endParaRPr lang="en-US" sz="870" dirty="0"/>
          </a:p>
        </p:txBody>
      </p:sp>
      <p:sp>
        <p:nvSpPr>
          <p:cNvPr id="6" name="Shape 4"/>
          <p:cNvSpPr/>
          <p:nvPr/>
        </p:nvSpPr>
        <p:spPr>
          <a:xfrm>
            <a:off x="566928" y="1124712"/>
            <a:ext cx="11045952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9" name="Text 7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29</a:t>
            </a:r>
            <a:endParaRPr lang="en-US" sz="770" dirty="0"/>
          </a:p>
        </p:txBody>
      </p:sp>
      <p:sp>
        <p:nvSpPr>
          <p:cNvPr id="10" name="Shape 8"/>
          <p:cNvSpPr/>
          <p:nvPr/>
        </p:nvSpPr>
        <p:spPr>
          <a:xfrm>
            <a:off x="56692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11" name="Image 0" descr="Erhai Azure Ripp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4568" y="1417320"/>
            <a:ext cx="1955332" cy="2931566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56692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CLA005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56692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Erhai Azure Ripples</a:t>
            </a:r>
            <a:endParaRPr lang="en-US" sz="1540" dirty="0"/>
          </a:p>
        </p:txBody>
      </p:sp>
      <p:sp>
        <p:nvSpPr>
          <p:cNvPr id="14" name="Shape 11"/>
          <p:cNvSpPr/>
          <p:nvPr/>
        </p:nvSpPr>
        <p:spPr>
          <a:xfrm>
            <a:off x="56692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16" name="Text 13"/>
          <p:cNvSpPr/>
          <p:nvPr/>
        </p:nvSpPr>
        <p:spPr>
          <a:xfrm>
            <a:off x="56692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C05</a:t>
            </a:r>
            <a:endParaRPr lang="en-US" sz="820" dirty="0"/>
          </a:p>
        </p:txBody>
      </p:sp>
      <p:sp>
        <p:nvSpPr>
          <p:cNvPr id="17" name="Text 14"/>
          <p:cNvSpPr/>
          <p:nvPr/>
        </p:nvSpPr>
        <p:spPr>
          <a:xfrm>
            <a:off x="182002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18" name="Text 15"/>
          <p:cNvSpPr/>
          <p:nvPr/>
        </p:nvSpPr>
        <p:spPr>
          <a:xfrm>
            <a:off x="182002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56692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56692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·  S/M/L/XL mixable</a:t>
            </a:r>
            <a:endParaRPr lang="en-US" sz="770" dirty="0"/>
          </a:p>
        </p:txBody>
      </p:sp>
      <p:sp>
        <p:nvSpPr>
          <p:cNvPr id="21" name="Shape 18"/>
          <p:cNvSpPr/>
          <p:nvPr/>
        </p:nvSpPr>
        <p:spPr>
          <a:xfrm>
            <a:off x="337870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22" name="Image 1" descr="Spring City Jacaran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6348" y="1417320"/>
            <a:ext cx="1955332" cy="2931566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337870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CLA006</a:t>
            </a:r>
            <a:endParaRPr lang="en-US" sz="760" dirty="0"/>
          </a:p>
        </p:txBody>
      </p:sp>
      <p:sp>
        <p:nvSpPr>
          <p:cNvPr id="24" name="Text 20"/>
          <p:cNvSpPr/>
          <p:nvPr/>
        </p:nvSpPr>
        <p:spPr>
          <a:xfrm>
            <a:off x="337870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Spring City Jacaranda</a:t>
            </a:r>
            <a:endParaRPr lang="en-US" sz="1540" dirty="0"/>
          </a:p>
        </p:txBody>
      </p:sp>
      <p:sp>
        <p:nvSpPr>
          <p:cNvPr id="25" name="Shape 21"/>
          <p:cNvSpPr/>
          <p:nvPr/>
        </p:nvSpPr>
        <p:spPr>
          <a:xfrm>
            <a:off x="337870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337870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27" name="Text 23"/>
          <p:cNvSpPr/>
          <p:nvPr/>
        </p:nvSpPr>
        <p:spPr>
          <a:xfrm>
            <a:off x="337870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C06</a:t>
            </a:r>
            <a:endParaRPr lang="en-US" sz="820" dirty="0"/>
          </a:p>
        </p:txBody>
      </p:sp>
      <p:sp>
        <p:nvSpPr>
          <p:cNvPr id="28" name="Text 24"/>
          <p:cNvSpPr/>
          <p:nvPr/>
        </p:nvSpPr>
        <p:spPr>
          <a:xfrm>
            <a:off x="463180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29" name="Text 25"/>
          <p:cNvSpPr/>
          <p:nvPr/>
        </p:nvSpPr>
        <p:spPr>
          <a:xfrm>
            <a:off x="463180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30" name="Text 26"/>
          <p:cNvSpPr/>
          <p:nvPr/>
        </p:nvSpPr>
        <p:spPr>
          <a:xfrm>
            <a:off x="337870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31" name="Text 27"/>
          <p:cNvSpPr/>
          <p:nvPr/>
        </p:nvSpPr>
        <p:spPr>
          <a:xfrm>
            <a:off x="337870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·  S/M/L/XL mixable</a:t>
            </a:r>
            <a:endParaRPr lang="en-US" sz="770" dirty="0"/>
          </a:p>
        </p:txBody>
      </p:sp>
      <p:sp>
        <p:nvSpPr>
          <p:cNvPr id="32" name="Shape 28"/>
          <p:cNvSpPr/>
          <p:nvPr/>
        </p:nvSpPr>
        <p:spPr>
          <a:xfrm>
            <a:off x="619048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33" name="Image 2" descr="Pu'er Ink Elegan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8128" y="1417320"/>
            <a:ext cx="1955332" cy="293156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619048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CLA007</a:t>
            </a:r>
            <a:endParaRPr lang="en-US" sz="760" dirty="0"/>
          </a:p>
        </p:txBody>
      </p:sp>
      <p:sp>
        <p:nvSpPr>
          <p:cNvPr id="35" name="Text 30"/>
          <p:cNvSpPr/>
          <p:nvPr/>
        </p:nvSpPr>
        <p:spPr>
          <a:xfrm>
            <a:off x="619048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Pu'er Ink Elegance</a:t>
            </a:r>
            <a:endParaRPr lang="en-US" sz="1540" dirty="0"/>
          </a:p>
        </p:txBody>
      </p:sp>
      <p:sp>
        <p:nvSpPr>
          <p:cNvPr id="36" name="Shape 31"/>
          <p:cNvSpPr/>
          <p:nvPr/>
        </p:nvSpPr>
        <p:spPr>
          <a:xfrm>
            <a:off x="619048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619048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38" name="Text 33"/>
          <p:cNvSpPr/>
          <p:nvPr/>
        </p:nvSpPr>
        <p:spPr>
          <a:xfrm>
            <a:off x="619048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C07</a:t>
            </a:r>
            <a:endParaRPr lang="en-US" sz="820" dirty="0"/>
          </a:p>
        </p:txBody>
      </p:sp>
      <p:sp>
        <p:nvSpPr>
          <p:cNvPr id="39" name="Text 34"/>
          <p:cNvSpPr/>
          <p:nvPr/>
        </p:nvSpPr>
        <p:spPr>
          <a:xfrm>
            <a:off x="744358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40" name="Text 35"/>
          <p:cNvSpPr/>
          <p:nvPr/>
        </p:nvSpPr>
        <p:spPr>
          <a:xfrm>
            <a:off x="744358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41" name="Text 36"/>
          <p:cNvSpPr/>
          <p:nvPr/>
        </p:nvSpPr>
        <p:spPr>
          <a:xfrm>
            <a:off x="619048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42" name="Text 37"/>
          <p:cNvSpPr/>
          <p:nvPr/>
        </p:nvSpPr>
        <p:spPr>
          <a:xfrm>
            <a:off x="619048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·  S/M/L/XL mixable</a:t>
            </a:r>
            <a:endParaRPr lang="en-US" sz="770" dirty="0"/>
          </a:p>
        </p:txBody>
      </p:sp>
      <p:sp>
        <p:nvSpPr>
          <p:cNvPr id="43" name="Shape 38"/>
          <p:cNvSpPr/>
          <p:nvPr/>
        </p:nvSpPr>
        <p:spPr>
          <a:xfrm>
            <a:off x="9002268" y="1344168"/>
            <a:ext cx="2610612" cy="3077870"/>
          </a:xfrm>
          <a:prstGeom prst="rect">
            <a:avLst/>
          </a:prstGeom>
          <a:solidFill>
            <a:srgbClr val="FCFAF7"/>
          </a:solidFill>
          <a:ln w="7620">
            <a:solidFill>
              <a:srgbClr val="DCD2C8"/>
            </a:solidFill>
            <a:prstDash val="solid"/>
          </a:ln>
        </p:spPr>
      </p:sp>
      <p:pic>
        <p:nvPicPr>
          <p:cNvPr id="44" name="Image 3" descr="Yunling Rainbow Glo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9908" y="1417320"/>
            <a:ext cx="1955332" cy="2931566"/>
          </a:xfrm>
          <a:prstGeom prst="rect">
            <a:avLst/>
          </a:prstGeom>
        </p:spPr>
      </p:pic>
      <p:sp>
        <p:nvSpPr>
          <p:cNvPr id="45" name="Text 39"/>
          <p:cNvSpPr/>
          <p:nvPr/>
        </p:nvSpPr>
        <p:spPr>
          <a:xfrm>
            <a:off x="9002268" y="4586630"/>
            <a:ext cx="26106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5" kern="0" dirty="0">
                <a:solidFill>
                  <a:srgbClr val="6A554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CLA008</a:t>
            </a:r>
            <a:endParaRPr lang="en-US" sz="760" dirty="0"/>
          </a:p>
        </p:txBody>
      </p:sp>
      <p:sp>
        <p:nvSpPr>
          <p:cNvPr id="46" name="Text 40"/>
          <p:cNvSpPr/>
          <p:nvPr/>
        </p:nvSpPr>
        <p:spPr>
          <a:xfrm>
            <a:off x="9002268" y="4842662"/>
            <a:ext cx="26106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4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Yunling Rainbow Glow</a:t>
            </a:r>
            <a:endParaRPr lang="en-US" sz="1540" dirty="0"/>
          </a:p>
        </p:txBody>
      </p:sp>
      <p:sp>
        <p:nvSpPr>
          <p:cNvPr id="47" name="Shape 41"/>
          <p:cNvSpPr/>
          <p:nvPr/>
        </p:nvSpPr>
        <p:spPr>
          <a:xfrm>
            <a:off x="9002268" y="5427878"/>
            <a:ext cx="2610612" cy="0"/>
          </a:xfrm>
          <a:prstGeom prst="line">
            <a:avLst/>
          </a:prstGeom>
          <a:noFill/>
          <a:ln w="6985">
            <a:solidFill>
              <a:srgbClr val="DCD2C8"/>
            </a:solidFill>
            <a:prstDash val="solid"/>
          </a:ln>
        </p:spPr>
      </p:sp>
      <p:sp>
        <p:nvSpPr>
          <p:cNvPr id="48" name="Text 42"/>
          <p:cNvSpPr/>
          <p:nvPr/>
        </p:nvSpPr>
        <p:spPr>
          <a:xfrm>
            <a:off x="9002268" y="5546750"/>
            <a:ext cx="1096457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" b="1" spc="6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</a:t>
            </a:r>
            <a:endParaRPr lang="en-US" sz="660" dirty="0"/>
          </a:p>
        </p:txBody>
      </p:sp>
      <p:sp>
        <p:nvSpPr>
          <p:cNvPr id="49" name="Text 43"/>
          <p:cNvSpPr/>
          <p:nvPr/>
        </p:nvSpPr>
        <p:spPr>
          <a:xfrm>
            <a:off x="9002268" y="5711342"/>
            <a:ext cx="109645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C08</a:t>
            </a:r>
            <a:endParaRPr lang="en-US" sz="820" dirty="0"/>
          </a:p>
        </p:txBody>
      </p:sp>
      <p:sp>
        <p:nvSpPr>
          <p:cNvPr id="50" name="Text 44"/>
          <p:cNvSpPr/>
          <p:nvPr/>
        </p:nvSpPr>
        <p:spPr>
          <a:xfrm>
            <a:off x="10255362" y="5546750"/>
            <a:ext cx="135751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AVAILABLE SIZES</a:t>
            </a:r>
            <a:endParaRPr lang="en-US" sz="660" dirty="0"/>
          </a:p>
        </p:txBody>
      </p:sp>
      <p:sp>
        <p:nvSpPr>
          <p:cNvPr id="51" name="Text 45"/>
          <p:cNvSpPr/>
          <p:nvPr/>
        </p:nvSpPr>
        <p:spPr>
          <a:xfrm>
            <a:off x="10255362" y="5711342"/>
            <a:ext cx="135751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2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 / M / L / XL</a:t>
            </a:r>
            <a:endParaRPr lang="en-US" sz="820" dirty="0"/>
          </a:p>
        </p:txBody>
      </p:sp>
      <p:sp>
        <p:nvSpPr>
          <p:cNvPr id="52" name="Text 46"/>
          <p:cNvSpPr/>
          <p:nvPr/>
        </p:nvSpPr>
        <p:spPr>
          <a:xfrm>
            <a:off x="9002268" y="6022238"/>
            <a:ext cx="261061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FRAGRANCE / NOTES</a:t>
            </a:r>
            <a:endParaRPr lang="en-US" sz="650" dirty="0"/>
          </a:p>
        </p:txBody>
      </p:sp>
      <p:sp>
        <p:nvSpPr>
          <p:cNvPr id="53" name="Text 47"/>
          <p:cNvSpPr/>
          <p:nvPr/>
        </p:nvSpPr>
        <p:spPr>
          <a:xfrm>
            <a:off x="9002268" y="6186830"/>
            <a:ext cx="26106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7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5% fragrance  ·  S/M/L/XL mixable</a:t>
            </a:r>
            <a:endParaRPr lang="en-US" sz="770" dirty="0"/>
          </a:p>
        </p:txBody>
      </p:sp>
      <p:sp>
        <p:nvSpPr>
          <p:cNvPr id="54" name="Text 48"/>
          <p:cNvSpPr/>
          <p:nvPr/>
        </p:nvSpPr>
        <p:spPr>
          <a:xfrm>
            <a:off x="6675120" y="6236208"/>
            <a:ext cx="49377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1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 IMAGES  ·  HANDMADE VARIATION EXPECTED</a:t>
            </a:r>
            <a:endParaRPr lang="en-US" sz="61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26280" cy="6858000"/>
          </a:xfrm>
          <a:prstGeom prst="rect">
            <a:avLst/>
          </a:prstGeom>
          <a:solidFill>
            <a:srgbClr val="49392F"/>
          </a:solidFill>
          <a:ln w="7620">
            <a:solidFill>
              <a:srgbClr val="49392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03504" y="658368"/>
            <a:ext cx="3474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ORDERING &amp;</a:t>
            </a:r>
            <a:endParaRPr lang="en-US" sz="3100" dirty="0"/>
          </a:p>
          <a:p>
            <a:pPr indent="0" marL="0">
              <a:buNone/>
            </a:pPr>
            <a:r>
              <a:rPr lang="en-US" sz="31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CUSTOMIZATION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603504" y="1975104"/>
            <a:ext cx="32552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one clear wholesale inquiry.</a:t>
            </a:r>
            <a:endParaRPr lang="en-US" sz="1420" dirty="0"/>
          </a:p>
        </p:txBody>
      </p:sp>
      <p:sp>
        <p:nvSpPr>
          <p:cNvPr id="5" name="Text 3"/>
          <p:cNvSpPr/>
          <p:nvPr/>
        </p:nvSpPr>
        <p:spPr>
          <a:xfrm>
            <a:off x="603504" y="2578608"/>
            <a:ext cx="32461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C9BFB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 product ID shown on each page as the primary reference. Final pricing, lead time and delivery are confirmed after configuration review.</a:t>
            </a:r>
            <a:endParaRPr lang="en-US" sz="1060" dirty="0"/>
          </a:p>
        </p:txBody>
      </p:sp>
      <p:sp>
        <p:nvSpPr>
          <p:cNvPr id="6" name="Text 4"/>
          <p:cNvSpPr/>
          <p:nvPr/>
        </p:nvSpPr>
        <p:spPr>
          <a:xfrm>
            <a:off x="603504" y="5394960"/>
            <a:ext cx="34015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10" b="1" spc="70" kern="0" dirty="0">
                <a:solidFill>
                  <a:srgbClr val="C7A7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ID  →  CONFIGURATION  →  QUOTATION</a:t>
            </a:r>
            <a:endParaRPr lang="en-US" sz="810" dirty="0"/>
          </a:p>
        </p:txBody>
      </p:sp>
      <p:sp>
        <p:nvSpPr>
          <p:cNvPr id="7" name="Text 5"/>
          <p:cNvSpPr/>
          <p:nvPr/>
        </p:nvSpPr>
        <p:spPr>
          <a:xfrm>
            <a:off x="5010912" y="71323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7A7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5010912" y="13716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products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010912" y="1883664"/>
            <a:ext cx="2743200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10912" y="206654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active product IDs from the four collections.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8394192" y="713232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7A7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394192" y="13716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configuration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8394192" y="1883664"/>
            <a:ext cx="2743200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94192" y="206654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size, fragrance series, packaging and requested quantity.</a:t>
            </a:r>
            <a:endParaRPr lang="en-US" sz="1020" dirty="0"/>
          </a:p>
        </p:txBody>
      </p:sp>
      <p:sp>
        <p:nvSpPr>
          <p:cNvPr id="15" name="Text 13"/>
          <p:cNvSpPr/>
          <p:nvPr/>
        </p:nvSpPr>
        <p:spPr>
          <a:xfrm>
            <a:off x="5010912" y="349300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7A7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5010912" y="41513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customization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010912" y="4663440"/>
            <a:ext cx="2743200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10912" y="4846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Colors, scents, packaging and branding can be included in the same project.</a:t>
            </a:r>
            <a:endParaRPr lang="en-US" sz="1020" dirty="0"/>
          </a:p>
        </p:txBody>
      </p:sp>
      <p:sp>
        <p:nvSpPr>
          <p:cNvPr id="19" name="Text 17"/>
          <p:cNvSpPr/>
          <p:nvPr/>
        </p:nvSpPr>
        <p:spPr>
          <a:xfrm>
            <a:off x="8394192" y="3493008"/>
            <a:ext cx="777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C7A7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8394192" y="41513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7151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Confirm quotation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8394192" y="4663440"/>
            <a:ext cx="2743200" cy="0"/>
          </a:xfrm>
          <a:prstGeom prst="line">
            <a:avLst/>
          </a:prstGeom>
          <a:noFill/>
          <a:ln w="10160">
            <a:solidFill>
              <a:srgbClr val="DCD2C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94192" y="484632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46C6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Final pricing, lead time and delivery are confirmed after requirements are reviewed.</a:t>
            </a:r>
            <a:endParaRPr lang="en-US" sz="1020" dirty="0"/>
          </a:p>
        </p:txBody>
      </p:sp>
      <p:sp>
        <p:nvSpPr>
          <p:cNvPr id="23" name="Shape 21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DCD2C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25" name="Text 23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9C918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30</a:t>
            </a:r>
            <a:endParaRPr lang="en-US" sz="77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201C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3504" y="512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03504" y="1298448"/>
            <a:ext cx="4617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READY TO BUILD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F8F4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INQUIRY?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03504" y="2816352"/>
            <a:ext cx="42976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dirty="0">
                <a:solidFill>
                  <a:srgbClr val="C9BFB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Share product IDs together with size, fragrance, packaging and quantity requirements.</a:t>
            </a:r>
            <a:endParaRPr lang="en-US" sz="1420" dirty="0"/>
          </a:p>
        </p:txBody>
      </p:sp>
      <p:sp>
        <p:nvSpPr>
          <p:cNvPr id="5" name="Shape 3"/>
          <p:cNvSpPr/>
          <p:nvPr/>
        </p:nvSpPr>
        <p:spPr>
          <a:xfrm>
            <a:off x="603504" y="3977640"/>
            <a:ext cx="4224528" cy="0"/>
          </a:xfrm>
          <a:prstGeom prst="line">
            <a:avLst/>
          </a:prstGeom>
          <a:noFill/>
          <a:ln w="10160">
            <a:solidFill>
              <a:srgbClr val="5149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3504" y="4187952"/>
            <a:ext cx="42245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780" b="1" spc="60" kern="0" dirty="0">
                <a:solidFill>
                  <a:srgbClr val="C7A7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ID  ·  SIZE  ·  FRAGRANCE  ·  PACKAGING  ·  QTY</a:t>
            </a:r>
            <a:endParaRPr lang="en-US" sz="780" dirty="0"/>
          </a:p>
        </p:txBody>
      </p:sp>
      <p:sp>
        <p:nvSpPr>
          <p:cNvPr id="7" name="Shape 5"/>
          <p:cNvSpPr/>
          <p:nvPr/>
        </p:nvSpPr>
        <p:spPr>
          <a:xfrm>
            <a:off x="5541264" y="502920"/>
            <a:ext cx="3794760" cy="5440680"/>
          </a:xfrm>
          <a:prstGeom prst="rect">
            <a:avLst/>
          </a:prstGeom>
          <a:solidFill>
            <a:srgbClr val="2A2521"/>
          </a:solidFill>
          <a:ln w="7620">
            <a:solidFill>
              <a:srgbClr val="2A2521"/>
            </a:solidFill>
            <a:prstDash val="solid"/>
          </a:ln>
        </p:spPr>
      </p:sp>
      <p:pic>
        <p:nvPicPr>
          <p:cNvPr id="8" name="Image 0" descr="Noir Rainb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04332" y="621792"/>
            <a:ext cx="3468624" cy="520293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9162288" y="2834640"/>
            <a:ext cx="1975104" cy="2852928"/>
          </a:xfrm>
          <a:prstGeom prst="rect">
            <a:avLst/>
          </a:prstGeom>
          <a:solidFill>
            <a:srgbClr val="F5F0E9"/>
          </a:solidFill>
          <a:ln w="7620">
            <a:solidFill>
              <a:srgbClr val="514940"/>
            </a:solidFill>
            <a:prstDash val="solid"/>
          </a:ln>
        </p:spPr>
      </p:sp>
      <p:pic>
        <p:nvPicPr>
          <p:cNvPr id="10" name="Image 1" descr="Heartbe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7632" y="2907792"/>
            <a:ext cx="1804416" cy="270662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9674352" y="804672"/>
            <a:ext cx="1481328" cy="1783080"/>
          </a:xfrm>
          <a:prstGeom prst="rect">
            <a:avLst/>
          </a:prstGeom>
          <a:solidFill>
            <a:srgbClr val="F5F0E9"/>
          </a:solidFill>
          <a:ln w="7620">
            <a:solidFill>
              <a:srgbClr val="514940"/>
            </a:solidFill>
            <a:prstDash val="solid"/>
          </a:ln>
        </p:spPr>
      </p:sp>
      <p:pic>
        <p:nvPicPr>
          <p:cNvPr id="12" name="Image 2" descr="C0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63059" y="868680"/>
            <a:ext cx="1103915" cy="165506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577840" y="6071616"/>
            <a:ext cx="14173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75" kern="0" dirty="0">
                <a:solidFill>
                  <a:srgbClr val="C7A78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CATALOG SOURCE</a:t>
            </a:r>
            <a:endParaRPr lang="en-US" sz="700" dirty="0"/>
          </a:p>
        </p:txBody>
      </p:sp>
      <p:sp>
        <p:nvSpPr>
          <p:cNvPr id="14" name="Text 9"/>
          <p:cNvSpPr/>
          <p:nvPr/>
        </p:nvSpPr>
        <p:spPr>
          <a:xfrm>
            <a:off x="7004304" y="6044184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780" dirty="0">
                <a:solidFill>
                  <a:srgbClr val="C9BFB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89 active products  ·  Advanced 19  /  Masterpiece 46  /  Holiday 16  /  Classic 8</a:t>
            </a:r>
            <a:endParaRPr lang="en-US" sz="780" dirty="0"/>
          </a:p>
        </p:txBody>
      </p:sp>
      <p:sp>
        <p:nvSpPr>
          <p:cNvPr id="15" name="Shape 10"/>
          <p:cNvSpPr/>
          <p:nvPr/>
        </p:nvSpPr>
        <p:spPr>
          <a:xfrm>
            <a:off x="566928" y="6473952"/>
            <a:ext cx="11045952" cy="0"/>
          </a:xfrm>
          <a:prstGeom prst="line">
            <a:avLst/>
          </a:prstGeom>
          <a:noFill/>
          <a:ln w="8255">
            <a:solidFill>
              <a:srgbClr val="4A423C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566928" y="6528816"/>
            <a:ext cx="47548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70" b="1" spc="55" kern="0" dirty="0">
                <a:solidFill>
                  <a:srgbClr val="8F87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DREAMLAND  ·  WHOLESALE PRODUCT CATALOG</a:t>
            </a:r>
            <a:endParaRPr lang="en-US" sz="770" dirty="0"/>
          </a:p>
        </p:txBody>
      </p:sp>
      <p:sp>
        <p:nvSpPr>
          <p:cNvPr id="17" name="Text 12"/>
          <p:cNvSpPr/>
          <p:nvPr/>
        </p:nvSpPr>
        <p:spPr>
          <a:xfrm>
            <a:off x="8613648" y="6528816"/>
            <a:ext cx="29992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70" b="1" spc="45" kern="0" dirty="0">
                <a:solidFill>
                  <a:srgbClr val="8F878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3B28FE20  ·  31</a:t>
            </a:r>
            <a:endParaRPr lang="en-US" sz="77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DREAMLAND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DREAMLAND Wholesale Product Catalog — English Edition</dc:title>
  <dc:subject>English wholesale carved candle product catalog</dc:subject>
  <dc:creator>DREAMLAND</dc:creator>
  <cp:lastModifiedBy>DREAMLAND</cp:lastModifiedBy>
  <cp:revision>1</cp:revision>
  <dcterms:created xsi:type="dcterms:W3CDTF">2026-08-25T17:22:09Z</dcterms:created>
  <dcterms:modified xsi:type="dcterms:W3CDTF">2026-08-25T17:22:09Z</dcterms:modified>
</cp:coreProperties>
</file>