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image" Target="../media/image-1-2.webp"/><Relationship Id="rId3" Type="http://schemas.openxmlformats.org/officeDocument/2006/relationships/image" Target="../media/image-1-3.webp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image" Target="../media/image-2-2.webp"/><Relationship Id="rId3" Type="http://schemas.openxmlformats.org/officeDocument/2006/relationships/image" Target="../media/image-2-3.webp"/><Relationship Id="rId4" Type="http://schemas.openxmlformats.org/officeDocument/2006/relationships/image" Target="../media/image-2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image" Target="../media/image-3-2.webp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image" Target="../media/image-4-2.webp"/><Relationship Id="rId3" Type="http://schemas.openxmlformats.org/officeDocument/2006/relationships/image" Target="../media/image-4-3.webp"/><Relationship Id="rId4" Type="http://schemas.openxmlformats.org/officeDocument/2006/relationships/image" Target="../media/image-4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image" Target="../media/image-5-2.webp"/><Relationship Id="rId3" Type="http://schemas.openxmlformats.org/officeDocument/2006/relationships/image" Target="../media/image-5-3.webp"/><Relationship Id="rId4" Type="http://schemas.openxmlformats.org/officeDocument/2006/relationships/image" Target="../media/image-5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image" Target="../media/image-6-2.webp"/><Relationship Id="rId3" Type="http://schemas.openxmlformats.org/officeDocument/2006/relationships/image" Target="../media/image-6-3.webp"/><Relationship Id="rId4" Type="http://schemas.openxmlformats.org/officeDocument/2006/relationships/image" Target="../media/image-6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image" Target="../media/image-7-2.webp"/><Relationship Id="rId3" Type="http://schemas.openxmlformats.org/officeDocument/2006/relationships/image" Target="../media/image-7-3.webp"/><Relationship Id="rId4" Type="http://schemas.openxmlformats.org/officeDocument/2006/relationships/image" Target="../media/image-7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image" Target="../media/image-8-2.webp"/><Relationship Id="rId3" Type="http://schemas.openxmlformats.org/officeDocument/2006/relationships/image" Target="../media/image-8-3.webp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webp"/><Relationship Id="rId2" Type="http://schemas.openxmlformats.org/officeDocument/2006/relationships/image" Target="../media/image-9-2.webp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webp"/><Relationship Id="rId2" Type="http://schemas.openxmlformats.org/officeDocument/2006/relationships/image" Target="../media/image-10-2.webp"/><Relationship Id="rId3" Type="http://schemas.openxmlformats.org/officeDocument/2006/relationships/image" Target="../media/image-10-3.webp"/><Relationship Id="rId4" Type="http://schemas.openxmlformats.org/officeDocument/2006/relationships/image" Target="../media/image-10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webp"/><Relationship Id="rId2" Type="http://schemas.openxmlformats.org/officeDocument/2006/relationships/image" Target="../media/image-11-2.webp"/><Relationship Id="rId3" Type="http://schemas.openxmlformats.org/officeDocument/2006/relationships/image" Target="../media/image-11-3.webp"/><Relationship Id="rId4" Type="http://schemas.openxmlformats.org/officeDocument/2006/relationships/image" Target="../media/image-11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webp"/><Relationship Id="rId2" Type="http://schemas.openxmlformats.org/officeDocument/2006/relationships/image" Target="../media/image-12-2.webp"/><Relationship Id="rId3" Type="http://schemas.openxmlformats.org/officeDocument/2006/relationships/image" Target="../media/image-12-3.webp"/><Relationship Id="rId4" Type="http://schemas.openxmlformats.org/officeDocument/2006/relationships/image" Target="../media/image-12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webp"/><Relationship Id="rId2" Type="http://schemas.openxmlformats.org/officeDocument/2006/relationships/image" Target="../media/image-13-2.webp"/><Relationship Id="rId3" Type="http://schemas.openxmlformats.org/officeDocument/2006/relationships/image" Target="../media/image-13-3.webp"/><Relationship Id="rId4" Type="http://schemas.openxmlformats.org/officeDocument/2006/relationships/image" Target="../media/image-13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webp"/><Relationship Id="rId2" Type="http://schemas.openxmlformats.org/officeDocument/2006/relationships/image" Target="../media/image-14-2.webp"/><Relationship Id="rId3" Type="http://schemas.openxmlformats.org/officeDocument/2006/relationships/image" Target="../media/image-14-3.webp"/><Relationship Id="rId4" Type="http://schemas.openxmlformats.org/officeDocument/2006/relationships/image" Target="../media/image-14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webp"/><Relationship Id="rId2" Type="http://schemas.openxmlformats.org/officeDocument/2006/relationships/image" Target="../media/image-15-2.webp"/><Relationship Id="rId3" Type="http://schemas.openxmlformats.org/officeDocument/2006/relationships/image" Target="../media/image-15-3.webp"/><Relationship Id="rId4" Type="http://schemas.openxmlformats.org/officeDocument/2006/relationships/image" Target="../media/image-15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webp"/><Relationship Id="rId2" Type="http://schemas.openxmlformats.org/officeDocument/2006/relationships/image" Target="../media/image-16-2.webp"/><Relationship Id="rId3" Type="http://schemas.openxmlformats.org/officeDocument/2006/relationships/image" Target="../media/image-16-3.webp"/><Relationship Id="rId4" Type="http://schemas.openxmlformats.org/officeDocument/2006/relationships/image" Target="../media/image-16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webp"/><Relationship Id="rId2" Type="http://schemas.openxmlformats.org/officeDocument/2006/relationships/image" Target="../media/image-17-2.webp"/><Relationship Id="rId3" Type="http://schemas.openxmlformats.org/officeDocument/2006/relationships/image" Target="../media/image-17-3.webp"/><Relationship Id="rId4" Type="http://schemas.openxmlformats.org/officeDocument/2006/relationships/image" Target="../media/image-17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webp"/><Relationship Id="rId2" Type="http://schemas.openxmlformats.org/officeDocument/2006/relationships/image" Target="../media/image-18-2.webp"/><Relationship Id="rId3" Type="http://schemas.openxmlformats.org/officeDocument/2006/relationships/image" Target="../media/image-18-3.webp"/><Relationship Id="rId4" Type="http://schemas.openxmlformats.org/officeDocument/2006/relationships/image" Target="../media/image-18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webp"/><Relationship Id="rId2" Type="http://schemas.openxmlformats.org/officeDocument/2006/relationships/image" Target="../media/image-19-2.webp"/><Relationship Id="rId3" Type="http://schemas.openxmlformats.org/officeDocument/2006/relationships/image" Target="../media/image-19-3.webp"/><Relationship Id="rId4" Type="http://schemas.openxmlformats.org/officeDocument/2006/relationships/image" Target="../media/image-19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webp"/><Relationship Id="rId2" Type="http://schemas.openxmlformats.org/officeDocument/2006/relationships/image" Target="../media/image-20-2.webp"/><Relationship Id="rId3" Type="http://schemas.openxmlformats.org/officeDocument/2006/relationships/image" Target="../media/image-20-3.webp"/><Relationship Id="rId4" Type="http://schemas.openxmlformats.org/officeDocument/2006/relationships/image" Target="../media/image-20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webp"/><Relationship Id="rId2" Type="http://schemas.openxmlformats.org/officeDocument/2006/relationships/image" Target="../media/image-21-2.webp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webp"/><Relationship Id="rId2" Type="http://schemas.openxmlformats.org/officeDocument/2006/relationships/image" Target="../media/image-22-2.webp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webp"/><Relationship Id="rId2" Type="http://schemas.openxmlformats.org/officeDocument/2006/relationships/image" Target="../media/image-23-2.webp"/><Relationship Id="rId3" Type="http://schemas.openxmlformats.org/officeDocument/2006/relationships/image" Target="../media/image-23-3.webp"/><Relationship Id="rId4" Type="http://schemas.openxmlformats.org/officeDocument/2006/relationships/image" Target="../media/image-23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webp"/><Relationship Id="rId2" Type="http://schemas.openxmlformats.org/officeDocument/2006/relationships/image" Target="../media/image-24-2.webp"/><Relationship Id="rId3" Type="http://schemas.openxmlformats.org/officeDocument/2006/relationships/image" Target="../media/image-24-3.webp"/><Relationship Id="rId4" Type="http://schemas.openxmlformats.org/officeDocument/2006/relationships/image" Target="../media/image-24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webp"/><Relationship Id="rId2" Type="http://schemas.openxmlformats.org/officeDocument/2006/relationships/image" Target="../media/image-25-2.webp"/><Relationship Id="rId3" Type="http://schemas.openxmlformats.org/officeDocument/2006/relationships/image" Target="../media/image-25-3.webp"/><Relationship Id="rId4" Type="http://schemas.openxmlformats.org/officeDocument/2006/relationships/image" Target="../media/image-25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webp"/><Relationship Id="rId2" Type="http://schemas.openxmlformats.org/officeDocument/2006/relationships/image" Target="../media/image-26-2.webp"/><Relationship Id="rId3" Type="http://schemas.openxmlformats.org/officeDocument/2006/relationships/image" Target="../media/image-26-3.webp"/><Relationship Id="rId4" Type="http://schemas.openxmlformats.org/officeDocument/2006/relationships/image" Target="../media/image-26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webp"/><Relationship Id="rId2" Type="http://schemas.openxmlformats.org/officeDocument/2006/relationships/image" Target="../media/image-27-2.webp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webp"/><Relationship Id="rId2" Type="http://schemas.openxmlformats.org/officeDocument/2006/relationships/image" Target="../media/image-28-2.webp"/><Relationship Id="rId3" Type="http://schemas.openxmlformats.org/officeDocument/2006/relationships/image" Target="../media/image-28-3.webp"/><Relationship Id="rId4" Type="http://schemas.openxmlformats.org/officeDocument/2006/relationships/image" Target="../media/image-28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webp"/><Relationship Id="rId2" Type="http://schemas.openxmlformats.org/officeDocument/2006/relationships/image" Target="../media/image-29-2.webp"/><Relationship Id="rId3" Type="http://schemas.openxmlformats.org/officeDocument/2006/relationships/image" Target="../media/image-29-3.webp"/><Relationship Id="rId4" Type="http://schemas.openxmlformats.org/officeDocument/2006/relationships/image" Target="../media/image-29-4.webp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243584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WHOLESALE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CATALOG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85216" y="28163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EDITION  ·  2026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585216" y="3255264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Hand-carved candles for wholesale, gifting and custom projects.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85216" y="51937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 ACTIVE PRODUCTS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5216" y="55046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19  /  Masterpiece 46  /  Holiday 16  /  Classic 8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852160" y="658368"/>
            <a:ext cx="1901952" cy="2788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pic>
        <p:nvPicPr>
          <p:cNvPr id="9" name="Image 0" descr="Noir Rainb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4456" y="749808"/>
            <a:ext cx="1737360" cy="2606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82128" y="1078992"/>
            <a:ext cx="1993392" cy="2907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pic>
        <p:nvPicPr>
          <p:cNvPr id="11" name="Image 1" descr="Heartb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4" y="1161288"/>
            <a:ext cx="1828800" cy="2743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021824" y="786384"/>
            <a:ext cx="1627632" cy="2423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pic>
        <p:nvPicPr>
          <p:cNvPr id="13" name="Image 2" descr="C0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901220"/>
            <a:ext cx="1463040" cy="219348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852160" y="4279392"/>
            <a:ext cx="5797296" cy="1517904"/>
          </a:xfrm>
          <a:prstGeom prst="roundRect">
            <a:avLst/>
          </a:prstGeom>
          <a:solidFill>
            <a:srgbClr val="E9E0D5"/>
          </a:solidFill>
          <a:ln w="12700">
            <a:solidFill>
              <a:srgbClr val="E9E0D5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153912" y="459028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ACTIVE CATALOG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6153912" y="49194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by product ID.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size, fragrance and packaging in your quotation request.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 OVERVIEW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collections. One clear selection flow.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products marked active at the source commit are included.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444752"/>
            <a:ext cx="2615184" cy="2926080"/>
          </a:xfrm>
          <a:prstGeom prst="roundRect">
            <a:avLst/>
          </a:prstGeom>
          <a:solidFill>
            <a:srgbClr val="E9E0D5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609344"/>
            <a:ext cx="2286000" cy="1170432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1" name="Image 0" descr="Noir Rainb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376" y="1664208"/>
            <a:ext cx="707136" cy="10607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299923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31520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spc="75" kern="0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731520" y="378561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MOQ from 18 pcs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3328416" y="1444752"/>
            <a:ext cx="2615184" cy="2926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93008" y="1609344"/>
            <a:ext cx="2286000" cy="1170432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7" name="Image 1" descr="Heartb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440" y="1664208"/>
            <a:ext cx="707136" cy="10607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29584" y="299923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529584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spc="75" kern="0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1020" dirty="0"/>
          </a:p>
        </p:txBody>
      </p:sp>
      <p:sp>
        <p:nvSpPr>
          <p:cNvPr id="20" name="Text 16"/>
          <p:cNvSpPr/>
          <p:nvPr/>
        </p:nvSpPr>
        <p:spPr>
          <a:xfrm>
            <a:off x="3529584" y="378561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MOQ from 18 pcs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6126480" y="1444752"/>
            <a:ext cx="2615184" cy="2926080"/>
          </a:xfrm>
          <a:prstGeom prst="roundRect">
            <a:avLst/>
          </a:prstGeom>
          <a:solidFill>
            <a:srgbClr val="E9E0D5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91072" y="1609344"/>
            <a:ext cx="2286000" cy="1170432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2" descr="C0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331" y="1664208"/>
            <a:ext cx="707481" cy="10607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27648" y="299923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6327648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spc="75" kern="0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1020" dirty="0"/>
          </a:p>
        </p:txBody>
      </p:sp>
      <p:sp>
        <p:nvSpPr>
          <p:cNvPr id="26" name="Text 21"/>
          <p:cNvSpPr/>
          <p:nvPr/>
        </p:nvSpPr>
        <p:spPr>
          <a:xfrm>
            <a:off x="6327648" y="378561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MOQ from 18 pcs</a:t>
            </a:r>
            <a:endParaRPr lang="en-US" sz="880" dirty="0"/>
          </a:p>
        </p:txBody>
      </p:sp>
      <p:sp>
        <p:nvSpPr>
          <p:cNvPr id="27" name="Shape 22"/>
          <p:cNvSpPr/>
          <p:nvPr/>
        </p:nvSpPr>
        <p:spPr>
          <a:xfrm>
            <a:off x="8924544" y="1444752"/>
            <a:ext cx="2615184" cy="2926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089136" y="1609344"/>
            <a:ext cx="2286000" cy="1170432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9" name="Image 3" descr="Dongchuan Crimson Gl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8395" y="1664208"/>
            <a:ext cx="707481" cy="10607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25712" y="299923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9125712" y="34381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spc="75" kern="0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</a:t>
            </a:r>
            <a:endParaRPr lang="en-US" sz="1020" dirty="0"/>
          </a:p>
        </p:txBody>
      </p:sp>
      <p:sp>
        <p:nvSpPr>
          <p:cNvPr id="32" name="Text 26"/>
          <p:cNvSpPr/>
          <p:nvPr/>
        </p:nvSpPr>
        <p:spPr>
          <a:xfrm>
            <a:off x="9125712" y="378561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MOQ from 18 pcs</a:t>
            </a:r>
            <a:endParaRPr lang="en-US" sz="880" dirty="0"/>
          </a:p>
        </p:txBody>
      </p:sp>
      <p:sp>
        <p:nvSpPr>
          <p:cNvPr id="33" name="Text 27"/>
          <p:cNvSpPr/>
          <p:nvPr/>
        </p:nvSpPr>
        <p:spPr>
          <a:xfrm>
            <a:off x="530352" y="4709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THIS CATALOG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530352" y="506577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product ID as the reference. Size and MOQ are confirmed by series; fragrance, packaging and customization are finalized with the quotation.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8366760" y="4709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8366760" y="50657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embedded in this deck. Final pricing depends on configuration and quantity.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901952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everyday carved candles with Robertet fragrance options.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2862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80" kern="0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ACTIVE DESIGNS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10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MOQ BY SIZE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6928" y="37490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36 pcs   M 24 pcs   L 18 pcs   XL 18 pcs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66928" y="42611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10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 NOTES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45537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797296" y="841248"/>
            <a:ext cx="2514600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pic>
        <p:nvPicPr>
          <p:cNvPr id="11" name="Image 0" descr="Noir Rainb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3516" y="932688"/>
            <a:ext cx="2042160" cy="3063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97296" y="4197096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ADV001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8613648" y="1883664"/>
            <a:ext cx="2514600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pic>
        <p:nvPicPr>
          <p:cNvPr id="14" name="Image 1" descr="Misty Ree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868" y="1975104"/>
            <a:ext cx="2042160" cy="3063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13648" y="523951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ADV002</a:t>
            </a:r>
            <a:endParaRPr lang="en-US" sz="780" dirty="0"/>
          </a:p>
        </p:txBody>
      </p:sp>
      <p:sp>
        <p:nvSpPr>
          <p:cNvPr id="16" name="Shape 12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01–04 of 19  •  1/5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Noir Rainb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Noir Rainbow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C01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Misty Ree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ADV002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Misty Reeds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C02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Fre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ADV003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Freud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C03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Golden Coa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ADV004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Coast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C04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05–08 of 19  •  2/5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05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Sunset Co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ADV005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Sunset Coral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C05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Pumpkin P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ADV006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Pumpkin Pie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C06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Peach Rever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ADV007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Peach Reverie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C07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Forest Ti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ADV008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Forest Tide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C08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09–12 of 19  •  3/5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06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Fireside Christm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ADV009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Fireside Christmas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C09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Gentle Warm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ADV010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Gentle Warmth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C10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Clear Sky 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ADV011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Sky Rain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C11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Ed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ADV012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Eden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C12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13–16 of 19  •  4/5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Moonlit Treas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ADV013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Moonlit Treasure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C13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Cosmic Moch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ADV014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Cosmic Mocha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C14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Yellow Gre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ADV015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Yellow Green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C15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Arles Oce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ADV016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Arles Ocean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C16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17–19 of 19  •  5/5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Dusky Afterg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ADV017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Dusky Afterglow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C17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Migratory Is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ADV018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Migratory Isle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C18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California Dre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ADV019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Dream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C19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Robertet  •  8%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901952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carved candles paired with CandleScience fragrance oils.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2862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80" kern="0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ACTIVE DESIGNS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10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MOQ BY SIZE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6928" y="37490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36 pcs   M 24 pcs   L 18 pcs   XL 18 pcs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66928" y="42611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10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 NOTES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45537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797296" y="841248"/>
            <a:ext cx="2514600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pic>
        <p:nvPicPr>
          <p:cNvPr id="11" name="Image 0" descr="Heartbe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3516" y="932688"/>
            <a:ext cx="2042160" cy="3063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97296" y="4197096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MPC001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8613648" y="1883664"/>
            <a:ext cx="2514600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pic>
        <p:nvPicPr>
          <p:cNvPr id="14" name="Image 1" descr="Jo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868" y="1975104"/>
            <a:ext cx="2042160" cy="3063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13648" y="523951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MPC002</a:t>
            </a:r>
            <a:endParaRPr lang="en-US" sz="780" dirty="0"/>
          </a:p>
        </p:txBody>
      </p:sp>
      <p:sp>
        <p:nvSpPr>
          <p:cNvPr id="16" name="Shape 12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01–04 of 46  •  1/12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Heartbe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Heartbeat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C20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Jo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MPC002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Joy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C21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Secret Gard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MPC003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Garden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C22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Brown Sugar Lat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MPC004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Brown Sugar Latte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C23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05–08 of 46  •  2/12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Silent N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MPC005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Silent Night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C24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Isabe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MPC006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Isabella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C25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Cranberry Rou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MPC007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Cranberry Rouge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C26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Madame Butterfl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MPC008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Madame Butterfly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C27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09–12 of 46  •  3/12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Blooming Wonderl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MPC009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Blooming Wonderland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C28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Island With Yo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MPC010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 With You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C29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Siri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MPC011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Sirius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C30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Starry Seren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MPC012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Starry Serenity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C31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13–16 of 46  •  4/12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Se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MPC013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Seraph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C32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Celadon G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MPC014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Celadon Green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C33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Bahama Mir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MPC015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Bahama Mirage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C34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Light Encoun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MPC016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Encounter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C35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17–20 of 46  •  5/12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Qingqing Zij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MPC017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Qingqing Zijin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C36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M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MPC018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C37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Orange Sod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MPC019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Soda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C38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Moonlit Fro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MPC020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Moonlit Frost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C39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21–24 of 46  •  6/12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Deep Se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MPC021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Sea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C40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Love Yo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MPC022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Love You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C41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Paradi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MPC023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Paradise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C42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Whale Fall Galax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MPC024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Whale Fall Galaxy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C43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25–28 of 46  •  7/12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Sea Salt Jasm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MPC025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 Salt Jasmine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C44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Peach Blossom Dre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MPC026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Peach Blossom Dream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C45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Fairy T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MPC027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Fairy Tale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C46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Winnie Be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MPC028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Winnie Bear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C47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29–32 of 46  •  8/12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Summer Dr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MPC029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Summer Dream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C48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Night W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MPC030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Night Wish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C49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Colored Glaz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MPC031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Colored Glaze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C50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Du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MPC032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Dune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C51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33–36 of 46  •  9/12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18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Little Pri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MPC033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Prince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C52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Bub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MPC034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Bubble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C53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Arles Oce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MPC036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Arles Ocean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Noir Rainb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MPC037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Noir Rainbow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37–40 of 46  •  10/12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19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Misty Ree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MPC038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Misty Reeds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Fre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MPC039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Freud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Golden Coa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MPC040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Coast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Dusky Aftergl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MPC041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Dusky Afterglow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41–44 of 46  •  11/12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Migratory Is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MPC042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Migratory Isle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California Dre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MPC043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Dream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Moonlit Treas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118872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MPC044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Moonlit Treasure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Fireside Christm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118872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MPC048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Fireside Christmas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45–46 of 46  •  12/12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21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Forest T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00200"/>
            <a:ext cx="118872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MPC049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Forest Tide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Cosmic Moch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00200"/>
            <a:ext cx="118872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MPC050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Cosmic Mocha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reference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CandleScience  •  10% fragrance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E4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901952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carved candles with selectable fragrance-series options.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2862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80" kern="0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ACTIVE DESIGNS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10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MOQ BY SIZE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6928" y="37490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36 pcs   M 24 pcs   L 18 pcs   XL 18 pcs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66928" y="42611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10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 NOTES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45537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797296" y="841248"/>
            <a:ext cx="2514600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pic>
        <p:nvPicPr>
          <p:cNvPr id="11" name="Image 0" descr="C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3017" y="932688"/>
            <a:ext cx="2043157" cy="3063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97296" y="4197096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HOL001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8613648" y="1883664"/>
            <a:ext cx="2514600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pic>
        <p:nvPicPr>
          <p:cNvPr id="14" name="Image 1" descr="C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369" y="1975104"/>
            <a:ext cx="2043157" cy="3063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13648" y="523951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HOL002</a:t>
            </a:r>
            <a:endParaRPr lang="en-US" sz="780" dirty="0"/>
          </a:p>
        </p:txBody>
      </p:sp>
      <p:sp>
        <p:nvSpPr>
          <p:cNvPr id="16" name="Shape 12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01–04 of 16  •  1/4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C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262" y="1600200"/>
            <a:ext cx="118930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C01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C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542" y="1600200"/>
            <a:ext cx="118930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HOL002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C02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C02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Christmas Carved Candle C0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62" y="4096512"/>
            <a:ext cx="118930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HOL003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C03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C03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Christmas Carved Candle C0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542" y="4096512"/>
            <a:ext cx="118930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HOL004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C04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C04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05–08 of 16  •  2/4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24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Christmas Carved Candle C0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262" y="1600200"/>
            <a:ext cx="118930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HOL005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C05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C05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Christmas Carved Candle C0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542" y="1600200"/>
            <a:ext cx="118930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HOL006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C06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C06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Christmas Carved Candle C07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62" y="4096512"/>
            <a:ext cx="118930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HOL007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C07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C07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Christmas Carved Candle C0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542" y="4096512"/>
            <a:ext cx="118930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HOL008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C08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C08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09–12 of 16  •  3/4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Christmas Carved Candle - No White Snowflake Drizz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262" y="1600200"/>
            <a:ext cx="118930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HOL009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- No White Snowflake Drizzle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C09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Christmas Carved Candle C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542" y="1600200"/>
            <a:ext cx="118930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HOL010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C10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C10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Christmas Carved Candle C1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62" y="4096512"/>
            <a:ext cx="118930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HOL011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C11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C11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Christmas Carved Candle C1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542" y="4096512"/>
            <a:ext cx="118930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HOL012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C12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C12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13–16 of 16  •  4/4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Christmas Carved Candle C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262" y="1600200"/>
            <a:ext cx="118930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HOL013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C13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C13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Christmas Carved Candle C1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542" y="1600200"/>
            <a:ext cx="118930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HOL014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C14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C14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Christmas Carved Candle C1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62" y="4096512"/>
            <a:ext cx="118930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HOL015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C15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C15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Christmas Carved Candle C16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542" y="4096512"/>
            <a:ext cx="118930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HOL016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Carved Candle C16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C16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Christmas  •  selectable scent series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901952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carved candles with a lighter fragrance profile.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2862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80" kern="0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ACTIVE DESIGNS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566928" y="34564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10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MOQ BY SIZE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566928" y="37490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36 pcs   M 24 pcs   L 18 pcs   XL 18 pcs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66928" y="42611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10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 NOTES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45537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fragrance  •  S/M/L/XL mixable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797296" y="841248"/>
            <a:ext cx="2514600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pic>
        <p:nvPicPr>
          <p:cNvPr id="11" name="Image 0" descr="Dongchuan Crimson G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3017" y="932688"/>
            <a:ext cx="2043157" cy="3063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97296" y="4197096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CLA001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8613648" y="1883664"/>
            <a:ext cx="2514600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pic>
        <p:nvPicPr>
          <p:cNvPr id="14" name="Image 1" descr="Meili Afterg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369" y="1975104"/>
            <a:ext cx="2043157" cy="3063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13648" y="523951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CLA002</a:t>
            </a:r>
            <a:endParaRPr lang="en-US" sz="780" dirty="0"/>
          </a:p>
        </p:txBody>
      </p:sp>
      <p:sp>
        <p:nvSpPr>
          <p:cNvPr id="16" name="Shape 12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01–04 of 8  •  1/2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28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Dongchuan Crimson G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262" y="1600200"/>
            <a:ext cx="118930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CLA001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Dongchuan Crimson Glow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C01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fragrance  •  S/M/L/XL mixable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Meili Afterg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542" y="1600200"/>
            <a:ext cx="118930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CLA002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Meili Afterglow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C02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fragrance  •  S/M/L/XL mixable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Luoping Golden Wav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62" y="4096512"/>
            <a:ext cx="118930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CLA003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Luoping Golden Waves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C03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fragrance  •  S/M/L/XL mixable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Banna Verdant Lay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542" y="4096512"/>
            <a:ext cx="118930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CLA004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Banna Verdant Layers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C04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fragrance  •  S/M/L/XL mixable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COLLECTION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— Product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05–08 of 8  •  2/2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29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12" name="Image 0" descr="Erhai Azure Ripp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262" y="1600200"/>
            <a:ext cx="118930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2374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CLA005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2374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Erhai Azure Ripples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2374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52374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C05</a:t>
            </a:r>
            <a:endParaRPr lang="en-US" sz="910" dirty="0"/>
          </a:p>
        </p:txBody>
      </p:sp>
      <p:sp>
        <p:nvSpPr>
          <p:cNvPr id="17" name="Text 14"/>
          <p:cNvSpPr/>
          <p:nvPr/>
        </p:nvSpPr>
        <p:spPr>
          <a:xfrm>
            <a:off x="252374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252374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fragrance  •  S/M/L/XL mixable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2374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6199632" y="1371600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1536192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10528" y="1536192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23" name="Image 1" descr="Spring City Jacaran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542" y="1600200"/>
            <a:ext cx="1189300" cy="1783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3024" y="1572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CLA006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93024" y="1801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City Jacaranda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93024" y="22860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8193024" y="25603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C06</a:t>
            </a:r>
            <a:endParaRPr lang="en-US" sz="910" dirty="0"/>
          </a:p>
        </p:txBody>
      </p:sp>
      <p:sp>
        <p:nvSpPr>
          <p:cNvPr id="28" name="Text 24"/>
          <p:cNvSpPr/>
          <p:nvPr/>
        </p:nvSpPr>
        <p:spPr>
          <a:xfrm>
            <a:off x="8193024" y="2816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8193024" y="309067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fragrance  •  S/M/L/XL mixable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193024" y="331012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3035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124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34" name="Image 2" descr="Pu'er Ink Elega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62" y="4096512"/>
            <a:ext cx="1189300" cy="17830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52374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CLA007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252374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Pu'er Ink Elegance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252374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252374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C07</a:t>
            </a:r>
            <a:endParaRPr lang="en-US" sz="910" dirty="0"/>
          </a:p>
        </p:txBody>
      </p:sp>
      <p:sp>
        <p:nvSpPr>
          <p:cNvPr id="39" name="Text 34"/>
          <p:cNvSpPr/>
          <p:nvPr/>
        </p:nvSpPr>
        <p:spPr>
          <a:xfrm>
            <a:off x="252374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40" name="Text 35"/>
          <p:cNvSpPr/>
          <p:nvPr/>
        </p:nvSpPr>
        <p:spPr>
          <a:xfrm>
            <a:off x="252374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fragrance  •  S/M/L/XL mixable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252374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6199632" y="3867912"/>
            <a:ext cx="5458968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64224" y="4032504"/>
            <a:ext cx="41148" cy="1911096"/>
          </a:xfrm>
          <a:prstGeom prst="rect">
            <a:avLst/>
          </a:prstGeom>
          <a:solidFill>
            <a:srgbClr val="D8C9B8"/>
          </a:solidFill>
          <a:ln w="12700">
            <a:solidFill>
              <a:srgbClr val="D8C9B8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510528" y="4032504"/>
            <a:ext cx="1481328" cy="1911096"/>
          </a:xfrm>
          <a:prstGeom prst="roundRect">
            <a:avLst/>
          </a:prstGeom>
          <a:solidFill>
            <a:srgbClr val="F0ECE6"/>
          </a:solidFill>
          <a:ln w="8890">
            <a:solidFill>
              <a:srgbClr val="F0ECE6"/>
            </a:solidFill>
            <a:prstDash val="solid"/>
          </a:ln>
        </p:spPr>
      </p:sp>
      <p:pic>
        <p:nvPicPr>
          <p:cNvPr id="45" name="Image 3" descr="Yunling Rainbow Gl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542" y="4096512"/>
            <a:ext cx="1189300" cy="17830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193024" y="4069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CLA008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8193024" y="42976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Yunling Rainbow Glow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8193024" y="478231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45" kern="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8193024" y="50566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C08</a:t>
            </a:r>
            <a:endParaRPr lang="en-US" sz="910" dirty="0"/>
          </a:p>
        </p:txBody>
      </p:sp>
      <p:sp>
        <p:nvSpPr>
          <p:cNvPr id="50" name="Text 44"/>
          <p:cNvSpPr/>
          <p:nvPr/>
        </p:nvSpPr>
        <p:spPr>
          <a:xfrm>
            <a:off x="8193024" y="5312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Sizes  S / M / L / XL</a:t>
            </a:r>
            <a:endParaRPr lang="en-US" sz="920" dirty="0"/>
          </a:p>
        </p:txBody>
      </p:sp>
      <p:sp>
        <p:nvSpPr>
          <p:cNvPr id="51" name="Text 45"/>
          <p:cNvSpPr/>
          <p:nvPr/>
        </p:nvSpPr>
        <p:spPr>
          <a:xfrm>
            <a:off x="8193024" y="558698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 fragrance  •  S/M/L/XL mixable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8193024" y="580644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image · handmade variation expected</a:t>
            </a:r>
            <a:endParaRPr lang="en-US" sz="7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8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ORDERING &amp; CUSTOMIZATION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one clear wholesale inquiry.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06640" y="667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product ID shown on each card as the primary reference.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143000"/>
            <a:ext cx="11128248" cy="0"/>
          </a:xfrm>
          <a:prstGeom prst="line">
            <a:avLst/>
          </a:prstGeom>
          <a:noFill/>
          <a:ln w="12700">
            <a:solidFill>
              <a:srgbClr val="DD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DD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  •  WHOLESALE PRODUCT CATALOG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" kern="0" dirty="0">
                <a:solidFill>
                  <a:srgbClr val="A09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A2EC27BB  • 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66928" y="1572768"/>
            <a:ext cx="5257800" cy="1700784"/>
          </a:xfrm>
          <a:prstGeom prst="roundRect">
            <a:avLst/>
          </a:prstGeom>
          <a:solidFill>
            <a:srgbClr val="E9E0D5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28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A3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27048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products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527048" y="22494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active product IDs from the four collections.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144768" y="1572768"/>
            <a:ext cx="5257800" cy="17007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28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A3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04888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configuration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104888" y="22494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size, fragrance series, packaging and requested quantity.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3776472"/>
            <a:ext cx="5257800" cy="1700784"/>
          </a:xfrm>
          <a:prstGeom prst="roundRect">
            <a:avLst/>
          </a:prstGeom>
          <a:solidFill>
            <a:srgbClr val="E9E0D5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325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A3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27048" y="4014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customization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527048" y="445312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Colors, scents, packaging and branding can be included in the same project.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144768" y="3776472"/>
            <a:ext cx="5257800" cy="17007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6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0325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A3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04888" y="4014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quotation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04888" y="445312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pricing, lead time and delivery are confirmed after requirements are reviewed.</a:t>
            </a:r>
            <a:endParaRPr lang="en-US" sz="10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F8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DREAMLAND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1389888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8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BUILD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8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INQUIRY?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66928" y="299923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C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product IDs together with size, fragrance, packaging and quantity requirements.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187952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80" kern="0" dirty="0">
                <a:solidFill>
                  <a:srgbClr val="BFA3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ID  +  SIZE  +  FRAGRANCE  +  PACKAGING  +  QTY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7315200" y="1005840"/>
            <a:ext cx="4251960" cy="4498848"/>
          </a:xfrm>
          <a:prstGeom prst="roundRect">
            <a:avLst/>
          </a:prstGeom>
          <a:solidFill>
            <a:srgbClr val="24211F"/>
          </a:solidFill>
          <a:ln w="10160">
            <a:solidFill>
              <a:srgbClr val="403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672" y="13898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A3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 SOURCE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62672" y="1847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 active products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62672" y="2395728"/>
            <a:ext cx="2926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CFC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 19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CFC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Masterpiece  46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CFC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Holiday  16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CFC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 8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7662672" y="440740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8F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commit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8F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a2ec27bb3816f947b035f9ae070626ff6477cc21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566928" y="61996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0" kern="0" dirty="0">
                <a:solidFill>
                  <a:srgbClr val="8F8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WHOLESALE PRODUCT CATALOG  ·  ENGLISH EDITION  ·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DREAMLAND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DREAMLAND Wholesale Product Catalog — English Edition</dc:title>
  <dc:subject>English wholesale carved candle product catalog</dc:subject>
  <dc:creator>DREAMLAND</dc:creator>
  <cp:lastModifiedBy>DREAMLAND</cp:lastModifiedBy>
  <cp:revision>1</cp:revision>
  <dcterms:created xsi:type="dcterms:W3CDTF">2026-08-25T16:07:49Z</dcterms:created>
  <dcterms:modified xsi:type="dcterms:W3CDTF">2026-08-25T16:07:49Z</dcterms:modified>
</cp:coreProperties>
</file>